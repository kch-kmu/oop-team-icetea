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98" r:id="rId2"/>
  </p:sldIdLst>
  <p:sldSz cx="21599525" cy="32399288"/>
  <p:notesSz cx="6807200" cy="9939338"/>
  <p:embeddedFontLst>
    <p:embeddedFont>
      <p:font typeface="페이퍼로지 6 SemiBold" charset="-127"/>
      <p:regular r:id="rId5"/>
      <p:bold r:id="rId6"/>
    </p:embeddedFont>
    <p:embeddedFont>
      <p:font typeface="페이퍼로지 8 ExtraBold" charset="-127"/>
      <p:bold r:id="rId7"/>
    </p:embeddedFont>
    <p:embeddedFont>
      <p:font typeface="프리젠테이션 4 Regular" charset="-127"/>
      <p:regular r:id="rId8"/>
    </p:embeddedFont>
    <p:embeddedFont>
      <p:font typeface="프리젠테이션 7 Bold" charset="-127"/>
      <p:bold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05" userDrawn="1">
          <p15:clr>
            <a:srgbClr val="A4A3A4"/>
          </p15:clr>
        </p15:guide>
        <p15:guide id="2" pos="68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96CB"/>
    <a:srgbClr val="9967E3"/>
    <a:srgbClr val="6247E3"/>
    <a:srgbClr val="93ACFE"/>
    <a:srgbClr val="EC5EA8"/>
    <a:srgbClr val="2449A4"/>
    <a:srgbClr val="B3DEF7"/>
    <a:srgbClr val="BEE65F"/>
    <a:srgbClr val="7148F6"/>
    <a:srgbClr val="6133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07" autoAdjust="0"/>
    <p:restoredTop sz="96076" autoAdjust="0"/>
  </p:normalViewPr>
  <p:slideViewPr>
    <p:cSldViewPr>
      <p:cViewPr>
        <p:scale>
          <a:sx n="50" d="100"/>
          <a:sy n="50" d="100"/>
        </p:scale>
        <p:origin x="252" y="-144"/>
      </p:cViewPr>
      <p:guideLst>
        <p:guide orient="horz" pos="10205"/>
        <p:guide pos="680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14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openxmlformats.org/officeDocument/2006/relationships/font" Target="fonts/font5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33C422A-34B3-4C58-BD0B-EAD7D607A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64789E-F14C-420B-B9FA-B45C75B758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112EB-970A-42F9-961D-9A843A29AEE0}" type="datetimeFigureOut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2026-05-27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3D53A4-4FFF-4575-8E4C-D1C7ECFFE3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8A5394-FFB3-41F6-9475-77B5C385B4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5616E0-2C1B-49D4-A1B4-DB6A6111033B}" type="slidenum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‹#›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212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7472FB17-58EF-4A58-BD0A-24A9918C23B5}" type="datetimeFigureOut">
              <a:rPr lang="ko-KR" altLang="en-US" smtClean="0"/>
              <a:pPr/>
              <a:t>2026-05-27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1243013"/>
            <a:ext cx="223520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2369D8F4-2A5A-4260-85C3-B027326E9B1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786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1pPr>
    <a:lvl2pPr marL="1321948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2pPr>
    <a:lvl3pPr marL="2643896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3pPr>
    <a:lvl4pPr marL="3965844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4pPr>
    <a:lvl5pPr marL="5287792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5pPr>
    <a:lvl6pPr marL="6609740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6pPr>
    <a:lvl7pPr marL="7931688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7pPr>
    <a:lvl8pPr marL="9253637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8pPr>
    <a:lvl9pPr marL="10575585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14003D7-5319-B9C8-B0F5-D66680C73E3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822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F1B5314-B233-4CDB-8237-D007C130B0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714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53A1ADA-CC5A-4E16-BD35-6CEB953AB13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869CFC-2FE1-277D-DFE4-28120184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322938B-0F6C-4010-9398-1BB73366C1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311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6B5CB7-7B1C-59F6-4C25-4248792AF4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320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0142F11-92F3-3844-99D9-22583B2C1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77B4877-351A-48CB-88B8-A4C0E8F79F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08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5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FD21804-7CC7-83C1-F781-3FD477C8BA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619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D47640-1E81-042A-65D5-B32F416CF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57C418A-FB76-C3A2-4AE9-067D019352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4"/>
              </a:gs>
              <a:gs pos="10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5253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0E7674C-E607-5C4E-6009-55F4DB01F1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3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AA5AD1C-9A25-5969-8CDE-4861562A31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0000"/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4F2165D-01ED-4144-A07E-4099507054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98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724969"/>
            <a:ext cx="18629590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8624810"/>
            <a:ext cx="18629590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B7613E-18C8-4B39-A489-392B9AD58E48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30029347"/>
            <a:ext cx="7289840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2A2E9-4A31-411D-B90F-C8B539CA02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7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3" r:id="rId2"/>
    <p:sldLayoutId id="2147483709" r:id="rId3"/>
    <p:sldLayoutId id="2147483714" r:id="rId4"/>
    <p:sldLayoutId id="2147483710" r:id="rId5"/>
    <p:sldLayoutId id="2147483715" r:id="rId6"/>
    <p:sldLayoutId id="2147483711" r:id="rId7"/>
    <p:sldLayoutId id="2147483716" r:id="rId8"/>
    <p:sldLayoutId id="2147483712" r:id="rId9"/>
    <p:sldLayoutId id="2147483717" r:id="rId10"/>
  </p:sldLayoutIdLst>
  <p:txStyles>
    <p:titleStyle>
      <a:lvl1pPr algn="l" defTabSz="2159996" rtl="0" eaLnBrk="1" latinLnBrk="1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1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04" userDrawn="1">
          <p15:clr>
            <a:srgbClr val="F26B43"/>
          </p15:clr>
        </p15:guide>
        <p15:guide id="2" pos="68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ACB5-8FBA-CB21-9625-9090836B6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그룹 22">
            <a:extLst>
              <a:ext uri="{FF2B5EF4-FFF2-40B4-BE49-F238E27FC236}">
                <a16:creationId xmlns:a16="http://schemas.microsoft.com/office/drawing/2014/main" id="{783A6897-3930-3114-D24B-1DD07210DF8F}"/>
              </a:ext>
            </a:extLst>
          </p:cNvPr>
          <p:cNvGrpSpPr/>
          <p:nvPr/>
        </p:nvGrpSpPr>
        <p:grpSpPr>
          <a:xfrm>
            <a:off x="2378290" y="5947781"/>
            <a:ext cx="16842944" cy="4063618"/>
            <a:chOff x="2378290" y="7131745"/>
            <a:chExt cx="16842944" cy="4063618"/>
          </a:xfrm>
        </p:grpSpPr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73918FD-6045-6171-0967-AD7D13B75CA9}"/>
                </a:ext>
              </a:extLst>
            </p:cNvPr>
            <p:cNvSpPr txBox="1"/>
            <p:nvPr/>
          </p:nvSpPr>
          <p:spPr>
            <a:xfrm>
              <a:off x="2378290" y="8121886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개요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A11B264-2776-37C0-2D7A-E304C366DFDD}"/>
                </a:ext>
              </a:extLst>
            </p:cNvPr>
            <p:cNvSpPr txBox="1"/>
            <p:nvPr/>
          </p:nvSpPr>
          <p:spPr>
            <a:xfrm>
              <a:off x="2378290" y="7131745"/>
              <a:ext cx="1006032" cy="8315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chemeClr val="accent2"/>
                  </a:solidFill>
                  <a:latin typeface="페이퍼로지 8 ExtraBold" pitchFamily="2" charset="-127"/>
                  <a:ea typeface="페이퍼로지 8 ExtraBold" pitchFamily="2" charset="-127"/>
                </a:rPr>
                <a:t>01</a:t>
              </a:r>
              <a:endParaRPr lang="ko-KR" altLang="en-US" sz="4800" dirty="0">
                <a:solidFill>
                  <a:schemeClr val="accent2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7364066-598E-189C-A9CC-CCF3620ABFA1}"/>
                </a:ext>
              </a:extLst>
            </p:cNvPr>
            <p:cNvSpPr txBox="1"/>
            <p:nvPr/>
          </p:nvSpPr>
          <p:spPr>
            <a:xfrm>
              <a:off x="6408575" y="7201272"/>
              <a:ext cx="12812659" cy="3994091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norm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C++ 기반 텍스트 콘솔 오프라인 문제은행 프로그램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ASCII 아트 UI · 방향키/Enter 조작, 직관적인 메뉴 구조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CSV 파일로 과목별 문제 관리 · 과목 선택 메뉴 제공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연습 · 시험 · 게임 · 검색 · 문제 제작 총 5가지 모드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오프라인 환경에서 동작하는 실행 파일(.exe) 배포</a:t>
              </a:r>
            </a:p>
          </p:txBody>
        </p: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4788783-5FE8-0E4A-4B66-9522FCF33DE4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7547503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C89CAF0-B002-E2F4-8AC0-C8DD99029697}"/>
              </a:ext>
            </a:extLst>
          </p:cNvPr>
          <p:cNvGrpSpPr/>
          <p:nvPr/>
        </p:nvGrpSpPr>
        <p:grpSpPr>
          <a:xfrm>
            <a:off x="2437287" y="10233589"/>
            <a:ext cx="16783947" cy="3663163"/>
            <a:chOff x="2437287" y="11598304"/>
            <a:chExt cx="16783947" cy="3663163"/>
          </a:xfrm>
        </p:grpSpPr>
        <p:sp>
          <p:nvSpPr>
            <p:cNvPr id="1030" name="TextBox 1029">
              <a:extLst>
                <a:ext uri="{FF2B5EF4-FFF2-40B4-BE49-F238E27FC236}">
                  <a16:creationId xmlns:a16="http://schemas.microsoft.com/office/drawing/2014/main" id="{13DF435A-D740-D33E-5AB2-C49EA72C4DB0}"/>
                </a:ext>
              </a:extLst>
            </p:cNvPr>
            <p:cNvSpPr txBox="1"/>
            <p:nvPr/>
          </p:nvSpPr>
          <p:spPr>
            <a:xfrm>
              <a:off x="2437287" y="12588447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배경 및 목적</a:t>
              </a:r>
            </a:p>
          </p:txBody>
        </p:sp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096DB128-EA52-0253-2F4B-1C992E3688E8}"/>
                </a:ext>
              </a:extLst>
            </p:cNvPr>
            <p:cNvSpPr txBox="1"/>
            <p:nvPr/>
          </p:nvSpPr>
          <p:spPr>
            <a:xfrm>
              <a:off x="2437287" y="11598304"/>
              <a:ext cx="1006032" cy="83151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chemeClr val="accent2"/>
                  </a:solidFill>
                  <a:latin typeface="페이퍼로지 8 ExtraBold" pitchFamily="2" charset="-127"/>
                  <a:ea typeface="페이퍼로지 8 ExtraBold" pitchFamily="2" charset="-127"/>
                </a:rPr>
                <a:t>02</a:t>
              </a:r>
              <a:endParaRPr lang="ko-KR" altLang="en-US" sz="4800" dirty="0">
                <a:solidFill>
                  <a:schemeClr val="accent2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1025" name="TextBox 1024">
              <a:extLst>
                <a:ext uri="{FF2B5EF4-FFF2-40B4-BE49-F238E27FC236}">
                  <a16:creationId xmlns:a16="http://schemas.microsoft.com/office/drawing/2014/main" id="{219E9826-9038-8A1C-E272-2CE26AAC3236}"/>
                </a:ext>
              </a:extLst>
            </p:cNvPr>
            <p:cNvSpPr txBox="1"/>
            <p:nvPr/>
          </p:nvSpPr>
          <p:spPr>
            <a:xfrm>
              <a:off x="6408575" y="11667829"/>
              <a:ext cx="12812659" cy="3593638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norm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기존 문제은행 사이트는 단순 출제에 그쳐 집중력 유지가 어려움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반복 풀이만으로는 암기에 의존하게 되는 한계 존재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게임 요소를 접목해 재미와 학습 효율을 동시에 향상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누구나 원하는 과목의 문제를 추가해 활용 가능한 범용 학습 프로그램 제작</a:t>
              </a:r>
            </a:p>
          </p:txBody>
        </p:sp>
        <p:cxnSp>
          <p:nvCxnSpPr>
            <p:cNvPr id="1029" name="직선 연결선 1028">
              <a:extLst>
                <a:ext uri="{FF2B5EF4-FFF2-40B4-BE49-F238E27FC236}">
                  <a16:creationId xmlns:a16="http://schemas.microsoft.com/office/drawing/2014/main" id="{31A4068E-D7DB-612A-DEC3-94E0F1F5C53A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12014062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A3BB66E-CCA3-A88B-5FE1-3142613BB8A3}"/>
              </a:ext>
            </a:extLst>
          </p:cNvPr>
          <p:cNvGrpSpPr/>
          <p:nvPr/>
        </p:nvGrpSpPr>
        <p:grpSpPr>
          <a:xfrm>
            <a:off x="2437269" y="14399444"/>
            <a:ext cx="16783965" cy="5256583"/>
            <a:chOff x="2437269" y="16064860"/>
            <a:chExt cx="16783965" cy="5256583"/>
          </a:xfrm>
        </p:grpSpPr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DCCEC274-F563-E0BB-8BA3-34200345136B}"/>
                </a:ext>
              </a:extLst>
            </p:cNvPr>
            <p:cNvSpPr txBox="1"/>
            <p:nvPr/>
          </p:nvSpPr>
          <p:spPr>
            <a:xfrm>
              <a:off x="2437269" y="17055003"/>
              <a:ext cx="2916000" cy="769441"/>
            </a:xfrm>
            <a:prstGeom prst="rect">
              <a:avLst/>
            </a:prstGeom>
            <a:noFill/>
          </p:spPr>
          <p:txBody>
            <a:bodyPr wrap="none" lIns="72000" tIns="36000" rIns="72000" bIns="36000" rtlCol="0">
              <a:noAutofit/>
            </a:bodyPr>
            <a:lstStyle/>
            <a:p>
              <a:r>
                <a:rPr lang="ko-KR" alt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페이퍼로지 6 SemiBold" pitchFamily="2" charset="-127"/>
                  <a:ea typeface="페이퍼로지 6 SemiBold" pitchFamily="2" charset="-127"/>
                </a:rPr>
                <a:t>내용</a:t>
              </a:r>
            </a:p>
          </p:txBody>
        </p:sp>
        <p:sp>
          <p:nvSpPr>
            <p:cNvPr id="1038" name="TextBox 1037">
              <a:extLst>
                <a:ext uri="{FF2B5EF4-FFF2-40B4-BE49-F238E27FC236}">
                  <a16:creationId xmlns:a16="http://schemas.microsoft.com/office/drawing/2014/main" id="{7503E29B-D0E0-0503-67B1-56CF4DFF6690}"/>
                </a:ext>
              </a:extLst>
            </p:cNvPr>
            <p:cNvSpPr txBox="1"/>
            <p:nvPr/>
          </p:nvSpPr>
          <p:spPr>
            <a:xfrm>
              <a:off x="2437269" y="16064860"/>
              <a:ext cx="1006031" cy="831516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altLang="ko-KR" sz="4800" dirty="0">
                  <a:solidFill>
                    <a:schemeClr val="accent2"/>
                  </a:solidFill>
                  <a:latin typeface="페이퍼로지 8 ExtraBold" pitchFamily="2" charset="-127"/>
                  <a:ea typeface="페이퍼로지 8 ExtraBold" pitchFamily="2" charset="-127"/>
                </a:rPr>
                <a:t>03</a:t>
              </a:r>
              <a:endParaRPr lang="ko-KR" altLang="en-US" sz="4800" dirty="0">
                <a:solidFill>
                  <a:schemeClr val="accent2"/>
                </a:solidFill>
                <a:latin typeface="페이퍼로지 8 ExtraBold" pitchFamily="2" charset="-127"/>
                <a:ea typeface="페이퍼로지 8 ExtraBold" pitchFamily="2" charset="-127"/>
              </a:endParaRPr>
            </a:p>
          </p:txBody>
        </p:sp>
        <p:sp>
          <p:nvSpPr>
            <p:cNvPr id="1033" name="TextBox 1032">
              <a:extLst>
                <a:ext uri="{FF2B5EF4-FFF2-40B4-BE49-F238E27FC236}">
                  <a16:creationId xmlns:a16="http://schemas.microsoft.com/office/drawing/2014/main" id="{7A48D8B8-7FD9-8E45-2922-0A4DBEF638EE}"/>
                </a:ext>
              </a:extLst>
            </p:cNvPr>
            <p:cNvSpPr txBox="1"/>
            <p:nvPr/>
          </p:nvSpPr>
          <p:spPr>
            <a:xfrm>
              <a:off x="6408575" y="16134388"/>
              <a:ext cx="12812659" cy="51870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72000" tIns="36000" rIns="72000" bIns="36000" rtlCol="0" anchor="t">
              <a:normAutofit/>
            </a:bodyPr>
            <a:lstStyle/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연습 모드 : 과목 선택 후 랜덤 출제되며 문제를 풀고 바로 피드백 제공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시험 모드 : 문제 수 지정, 종료 후 점수 및 오답 해설 제공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게임 모드 : 몬스터 처치(HP바·콤보·120초) / 무한의 탑(목숨3·5콤보 회복·10층 보스)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검색/제작 : 키워드 검색, CSV로 문제 직접 추가 및 저장</a:t>
              </a:r>
            </a:p>
            <a:p>
              <a:pPr marL="720000" marR="0" lvl="0" indent="-720000" algn="l" defTabSz="2159996" rtl="0" eaLnBrk="1" fontAlgn="auto" latinLnBrk="1" hangingPunct="1">
                <a:spcAft>
                  <a:spcPts val="1200"/>
                </a:spcAft>
                <a:buClr>
                  <a:schemeClr val="accent2"/>
                </a:buClr>
                <a:buSzTx/>
                <a:buFont typeface="프리젠테이션 4 Regular" pitchFamily="2" charset="-127"/>
                <a:buChar char=""/>
              </a:pPr>
              <a:r>
                <a:rPr lang="ko-KR" altLang="en-US" sz="4000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OOP 설계 : struct 캡슐화, .h/.cpp 모듈 분리, extern 공유, STL 컨테이너 활용</a:t>
              </a:r>
            </a:p>
          </p:txBody>
        </p:sp>
        <p:cxnSp>
          <p:nvCxnSpPr>
            <p:cNvPr id="1036" name="직선 연결선 1035">
              <a:extLst>
                <a:ext uri="{FF2B5EF4-FFF2-40B4-BE49-F238E27FC236}">
                  <a16:creationId xmlns:a16="http://schemas.microsoft.com/office/drawing/2014/main" id="{48C2C7F7-04CF-2657-F262-EDA62F05528A}"/>
                </a:ext>
              </a:extLst>
            </p:cNvPr>
            <p:cNvCxnSpPr>
              <a:cxnSpLocks/>
            </p:cNvCxnSpPr>
            <p:nvPr/>
          </p:nvCxnSpPr>
          <p:spPr>
            <a:xfrm>
              <a:off x="3923539" y="16480618"/>
              <a:ext cx="2004816" cy="0"/>
            </a:xfrm>
            <a:prstGeom prst="line">
              <a:avLst/>
            </a:prstGeom>
            <a:ln w="47625" cap="rnd">
              <a:solidFill>
                <a:schemeClr val="tx2">
                  <a:lumMod val="40000"/>
                  <a:lumOff val="60000"/>
                </a:schemeClr>
              </a:soli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텍스트 개체 틀 44">
            <a:extLst>
              <a:ext uri="{FF2B5EF4-FFF2-40B4-BE49-F238E27FC236}">
                <a16:creationId xmlns:a16="http://schemas.microsoft.com/office/drawing/2014/main" id="{BCA223C7-8E18-BFB6-0ADE-2A218104AC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43731" y="1186932"/>
            <a:ext cx="7914555" cy="707886"/>
          </a:xfrm>
        </p:spPr>
        <p:txBody>
          <a:bodyPr/>
          <a:lstStyle/>
          <a:p>
            <a:r>
              <a:rPr lang="ko-KR" altLang="en-US" dirty="0"/>
              <a:t>실감미디어기술</a:t>
            </a:r>
            <a:r>
              <a:rPr lang="en-US" altLang="ko-KR" dirty="0"/>
              <a:t>(</a:t>
            </a:r>
            <a:r>
              <a:rPr lang="ko-KR" altLang="en-US" dirty="0"/>
              <a:t>중급</a:t>
            </a:r>
            <a:r>
              <a:rPr lang="en-US" altLang="ko-KR" dirty="0"/>
              <a:t>)</a:t>
            </a:r>
          </a:p>
        </p:txBody>
      </p:sp>
      <p:sp>
        <p:nvSpPr>
          <p:cNvPr id="47" name="텍스트 개체 틀 46">
            <a:extLst>
              <a:ext uri="{FF2B5EF4-FFF2-40B4-BE49-F238E27FC236}">
                <a16:creationId xmlns:a16="http://schemas.microsoft.com/office/drawing/2014/main" id="{81142246-FA86-D657-A4E7-3C5E1DBA1C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객체지향프로그래밍</a:t>
            </a:r>
            <a:r>
              <a:rPr lang="en-US" altLang="ko-KR" dirty="0"/>
              <a:t>-03</a:t>
            </a:r>
            <a:endParaRPr lang="ko-KR" altLang="en-US" dirty="0"/>
          </a:p>
        </p:txBody>
      </p:sp>
      <p:sp>
        <p:nvSpPr>
          <p:cNvPr id="48" name="텍스트 개체 틀 47">
            <a:extLst>
              <a:ext uri="{FF2B5EF4-FFF2-40B4-BE49-F238E27FC236}">
                <a16:creationId xmlns:a16="http://schemas.microsoft.com/office/drawing/2014/main" id="{E8413977-F079-0FC1-18F5-ECAB29B425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3586" y="2140054"/>
            <a:ext cx="17711211" cy="1129540"/>
          </a:xfrm>
        </p:spPr>
        <p:txBody>
          <a:bodyPr/>
          <a:lstStyle/>
          <a:p>
            <a:r>
              <a:rPr lang="ko-KR" altLang="en-US" sz="6740" dirty="0"/>
              <a:t>게임으로 같이 공부하는 오프라인 문제은행 프로그램</a:t>
            </a:r>
            <a:endParaRPr lang="en-US" altLang="ko-KR" sz="6740" dirty="0"/>
          </a:p>
        </p:txBody>
      </p:sp>
      <p:sp>
        <p:nvSpPr>
          <p:cNvPr id="49" name="텍스트 개체 틀 48">
            <a:extLst>
              <a:ext uri="{FF2B5EF4-FFF2-40B4-BE49-F238E27FC236}">
                <a16:creationId xmlns:a16="http://schemas.microsoft.com/office/drawing/2014/main" id="{C84C755D-1CB0-7768-A285-146BF8FD27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63638" y="3747572"/>
            <a:ext cx="2052165" cy="646331"/>
          </a:xfrm>
        </p:spPr>
        <p:txBody>
          <a:bodyPr/>
          <a:lstStyle/>
          <a:p>
            <a:r>
              <a:rPr lang="ko-KR" altLang="en-US" dirty="0"/>
              <a:t>팀 </a:t>
            </a:r>
            <a:r>
              <a:rPr lang="ko-KR" altLang="en-US" dirty="0" err="1"/>
              <a:t>아이스티</a:t>
            </a:r>
            <a:endParaRPr lang="en-US" altLang="ko-KR" dirty="0"/>
          </a:p>
        </p:txBody>
      </p:sp>
      <p:sp>
        <p:nvSpPr>
          <p:cNvPr id="50" name="텍스트 개체 틀 49">
            <a:extLst>
              <a:ext uri="{FF2B5EF4-FFF2-40B4-BE49-F238E27FC236}">
                <a16:creationId xmlns:a16="http://schemas.microsoft.com/office/drawing/2014/main" id="{32D8AC41-4223-BB63-3FB4-6D5DC3847A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/>
              <a:t>지도교수</a:t>
            </a:r>
          </a:p>
        </p:txBody>
      </p:sp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7EA0D348-7872-B0B0-D442-0966E8D4A6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 dirty="0"/>
              <a:t>조현철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9162C04F-FFAA-FB39-3912-250400F32C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/>
              <a:t>김찬호</a:t>
            </a:r>
            <a:r>
              <a:rPr lang="en-US" altLang="ko-KR" dirty="0"/>
              <a:t>, </a:t>
            </a:r>
            <a:r>
              <a:rPr lang="ko-KR" altLang="en-US" dirty="0"/>
              <a:t>박성현</a:t>
            </a:r>
            <a:r>
              <a:rPr lang="en-US" altLang="ko-KR" dirty="0"/>
              <a:t>, </a:t>
            </a:r>
            <a:r>
              <a:rPr lang="ko-KR" altLang="en-US" dirty="0" err="1"/>
              <a:t>이채승</a:t>
            </a:r>
            <a:r>
              <a:rPr lang="en-US" altLang="ko-KR" dirty="0"/>
              <a:t>, </a:t>
            </a:r>
            <a:r>
              <a:rPr lang="ko-KR" altLang="en-US" dirty="0" err="1"/>
              <a:t>정승재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701E7E7-536F-6D7B-20E9-132ED104DE5C}"/>
              </a:ext>
            </a:extLst>
          </p:cNvPr>
          <p:cNvGrpSpPr/>
          <p:nvPr/>
        </p:nvGrpSpPr>
        <p:grpSpPr>
          <a:xfrm>
            <a:off x="18648634" y="28945060"/>
            <a:ext cx="2088232" cy="2160240"/>
            <a:chOff x="18648634" y="28945060"/>
            <a:chExt cx="2088232" cy="216024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8352EBB8-6066-2AEC-A38E-1B9D818D9C62}"/>
                </a:ext>
              </a:extLst>
            </p:cNvPr>
            <p:cNvSpPr/>
            <p:nvPr/>
          </p:nvSpPr>
          <p:spPr>
            <a:xfrm>
              <a:off x="18830978" y="29442415"/>
              <a:ext cx="1662886" cy="1662885"/>
            </a:xfrm>
            <a:prstGeom prst="roundRect">
              <a:avLst>
                <a:gd name="adj" fmla="val 0"/>
              </a:avLst>
            </a:prstGeom>
            <a:blipFill dpi="0"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4990426-86D5-7033-96C7-16956F1A74DE}"/>
                </a:ext>
              </a:extLst>
            </p:cNvPr>
            <p:cNvSpPr txBox="1"/>
            <p:nvPr/>
          </p:nvSpPr>
          <p:spPr>
            <a:xfrm>
              <a:off x="18648634" y="28945060"/>
              <a:ext cx="2088232" cy="497355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noAutofit/>
            </a:bodyPr>
            <a:lstStyle/>
            <a:p>
              <a:pPr marL="720000" lvl="0" indent="-720000" algn="ctr" defTabSz="2159996" latinLnBrk="1">
                <a:spcAft>
                  <a:spcPts val="1200"/>
                </a:spcAft>
              </a:pPr>
              <a:r>
                <a:rPr lang="en-US" altLang="ko-KR" sz="3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GitHub URL</a:t>
              </a:r>
              <a:endParaRPr lang="ko-KR" altLang="en-US" sz="3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6A778F85-1F54-F8AC-A99B-9492A33EAFF8}"/>
              </a:ext>
            </a:extLst>
          </p:cNvPr>
          <p:cNvGrpSpPr/>
          <p:nvPr/>
        </p:nvGrpSpPr>
        <p:grpSpPr>
          <a:xfrm>
            <a:off x="2437269" y="19872052"/>
            <a:ext cx="16393708" cy="8793676"/>
            <a:chOff x="2437269" y="19872052"/>
            <a:chExt cx="16393708" cy="8793676"/>
          </a:xfrm>
        </p:grpSpPr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16317365-A9A4-173B-E71C-EC8B12DB5AE1}"/>
                </a:ext>
              </a:extLst>
            </p:cNvPr>
            <p:cNvGrpSpPr/>
            <p:nvPr/>
          </p:nvGrpSpPr>
          <p:grpSpPr>
            <a:xfrm>
              <a:off x="2437269" y="19872052"/>
              <a:ext cx="16393708" cy="8793676"/>
              <a:chOff x="2437269" y="19872052"/>
              <a:chExt cx="16393708" cy="8793676"/>
            </a:xfrm>
          </p:grpSpPr>
          <p:cxnSp>
            <p:nvCxnSpPr>
              <p:cNvPr id="6" name="직선 연결선 5">
                <a:extLst>
                  <a:ext uri="{FF2B5EF4-FFF2-40B4-BE49-F238E27FC236}">
                    <a16:creationId xmlns:a16="http://schemas.microsoft.com/office/drawing/2014/main" id="{26F09DE1-FBF4-CCEE-A36F-57CD7A2A0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23520" y="20287810"/>
                <a:ext cx="2004816" cy="0"/>
              </a:xfrm>
              <a:prstGeom prst="line">
                <a:avLst/>
              </a:prstGeom>
              <a:ln w="47625" cap="rnd">
                <a:solidFill>
                  <a:schemeClr val="tx2">
                    <a:lumMod val="40000"/>
                    <a:lumOff val="60000"/>
                  </a:schemeClr>
                </a:solidFill>
                <a:prstDash val="sysDot"/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0C43D6-061C-B655-44F1-23F1E93DD143}"/>
                  </a:ext>
                </a:extLst>
              </p:cNvPr>
              <p:cNvSpPr txBox="1"/>
              <p:nvPr/>
            </p:nvSpPr>
            <p:spPr>
              <a:xfrm>
                <a:off x="2437269" y="20862194"/>
                <a:ext cx="2916000" cy="769441"/>
              </a:xfrm>
              <a:prstGeom prst="rect">
                <a:avLst/>
              </a:prstGeom>
              <a:noFill/>
            </p:spPr>
            <p:txBody>
              <a:bodyPr wrap="none" lIns="72000" tIns="36000" rIns="72000" bIns="36000" rtlCol="0">
                <a:noAutofit/>
              </a:bodyPr>
              <a:lstStyle/>
              <a:p>
                <a:r>
                  <a:rPr lang="ko-KR" altLang="en-US" sz="4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페이퍼로지 6 SemiBold" pitchFamily="2" charset="-127"/>
                    <a:ea typeface="페이퍼로지 6 SemiBold" pitchFamily="2" charset="-127"/>
                  </a:rPr>
                  <a:t>결과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55F92-49CA-F488-AB3B-A44E2BCC073D}"/>
                  </a:ext>
                </a:extLst>
              </p:cNvPr>
              <p:cNvSpPr txBox="1"/>
              <p:nvPr/>
            </p:nvSpPr>
            <p:spPr>
              <a:xfrm>
                <a:off x="2437269" y="19872052"/>
                <a:ext cx="1006032" cy="831516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r>
                  <a:rPr lang="en-US" altLang="ko-KR" sz="4800" dirty="0">
                    <a:solidFill>
                      <a:schemeClr val="accent2"/>
                    </a:solidFill>
                    <a:latin typeface="페이퍼로지 8 ExtraBold" pitchFamily="2" charset="-127"/>
                    <a:ea typeface="페이퍼로지 8 ExtraBold" pitchFamily="2" charset="-127"/>
                  </a:rPr>
                  <a:t>04</a:t>
                </a:r>
                <a:endParaRPr lang="ko-KR" altLang="en-US" sz="4800" dirty="0">
                  <a:solidFill>
                    <a:schemeClr val="accent2"/>
                  </a:solidFill>
                  <a:latin typeface="페이퍼로지 8 ExtraBold" pitchFamily="2" charset="-127"/>
                  <a:ea typeface="페이퍼로지 8 ExtraBold" pitchFamily="2" charset="-127"/>
                </a:endParaRP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263F6F6-147D-D674-9B6C-0C88F173C7C7}"/>
                  </a:ext>
                </a:extLst>
              </p:cNvPr>
              <p:cNvSpPr txBox="1"/>
              <p:nvPr/>
            </p:nvSpPr>
            <p:spPr>
              <a:xfrm>
                <a:off x="6408555" y="19933866"/>
                <a:ext cx="5302414" cy="707886"/>
              </a:xfrm>
              <a:prstGeom prst="rect">
                <a:avLst/>
              </a:prstGeom>
              <a:noFill/>
            </p:spPr>
            <p:txBody>
              <a:bodyPr wrap="square" lIns="72000" tIns="36000" rIns="72000" bIns="36000" rtlCol="0" anchor="t">
                <a:normAutofit/>
              </a:bodyPr>
              <a:lstStyle/>
              <a:p>
                <a:pPr marL="720000" lvl="0" indent="-720000" defTabSz="2159996" latinLnBrk="1">
                  <a:spcAft>
                    <a:spcPts val="1200"/>
                  </a:spcAft>
                </a:pPr>
                <a:r>
                  <a:rPr lang="ko-KR" altLang="en-US" sz="4000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각 파트별 구현 이미지</a:t>
                </a:r>
              </a:p>
            </p:txBody>
          </p:sp>
          <p:pic>
            <p:nvPicPr>
              <p:cNvPr id="20" name="그림 19" descr="The image is a textual representation of a user interface, displaying a menu with options and a Korean language question about parameter passing in Python.&#10;&#10;AI 생성 콘텐츠는 정확하지 않을 수 있습니다.">
                <a:extLst>
                  <a:ext uri="{FF2B5EF4-FFF2-40B4-BE49-F238E27FC236}">
                    <a16:creationId xmlns:a16="http://schemas.microsoft.com/office/drawing/2014/main" id="{E2DF2922-EA53-3A17-0C0B-6638611D24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22380" y="25065728"/>
                <a:ext cx="5235905" cy="3600000"/>
              </a:xfrm>
              <a:prstGeom prst="rect">
                <a:avLst/>
              </a:prstGeom>
            </p:spPr>
          </p:pic>
          <p:pic>
            <p:nvPicPr>
              <p:cNvPr id="26" name="그림 25" descr="The image is a list of Python problems, categorized by levels (Lv.2 or Lv.3), including topics like input(), ord(), string formatting, function arguments, return statements, and variable types.&#10;&#10;AI 생성 콘텐츠는 정확하지 않을 수 있습니다.">
                <a:extLst>
                  <a:ext uri="{FF2B5EF4-FFF2-40B4-BE49-F238E27FC236}">
                    <a16:creationId xmlns:a16="http://schemas.microsoft.com/office/drawing/2014/main" id="{6BBF4A63-5C58-8271-B0B8-8DC1774639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90470" y="25041242"/>
                <a:ext cx="6840507" cy="3600000"/>
              </a:xfrm>
              <a:prstGeom prst="rect">
                <a:avLst/>
              </a:prstGeom>
            </p:spPr>
          </p:pic>
          <p:pic>
            <p:nvPicPr>
              <p:cNvPr id="30" name="그림 29" descr="The image shows a text input prompt on a Korean screen asking to identify which data type is not a built-in type in Python, with the options including 'rational' and a few other types.&#10;&#10;AI 생성 콘텐츠는 정확하지 않을 수 있습니다.">
                <a:extLst>
                  <a:ext uri="{FF2B5EF4-FFF2-40B4-BE49-F238E27FC236}">
                    <a16:creationId xmlns:a16="http://schemas.microsoft.com/office/drawing/2014/main" id="{02CCED8B-AFDA-25FD-87F4-CD1CCA35E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89738" y="21018242"/>
                <a:ext cx="7002312" cy="3600000"/>
              </a:xfrm>
              <a:prstGeom prst="rect">
                <a:avLst/>
              </a:prstGeom>
            </p:spPr>
          </p:pic>
        </p:grpSp>
        <p:pic>
          <p:nvPicPr>
            <p:cNvPr id="3" name="그림 2" descr="The image depicts a simple ASCII representation of a Pokￃﾩmon, specifically Chimchar, with a timer showing 107 seconds, a score of 100, and a boss monster with 92/100 health remaining, alongside a multiple-choice question about string slicing in programming.&#10;&#10;AI 생성 콘텐츠는 정확하지 않을 수 있습니다.">
              <a:extLst>
                <a:ext uri="{FF2B5EF4-FFF2-40B4-BE49-F238E27FC236}">
                  <a16:creationId xmlns:a16="http://schemas.microsoft.com/office/drawing/2014/main" id="{85F9278A-B2BC-CFFD-8DEE-C110BA23E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097590" y="21018242"/>
              <a:ext cx="3046988" cy="3600000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5EBC531A-A312-0CA9-3445-9E44A6783827}"/>
              </a:ext>
            </a:extLst>
          </p:cNvPr>
          <p:cNvGrpSpPr/>
          <p:nvPr/>
        </p:nvGrpSpPr>
        <p:grpSpPr>
          <a:xfrm>
            <a:off x="16461352" y="28945060"/>
            <a:ext cx="2115274" cy="2160240"/>
            <a:chOff x="18621592" y="28945060"/>
            <a:chExt cx="2115274" cy="216024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E8CA6D26-B3A5-EE43-FB42-F7B91C8ADAB8}"/>
                </a:ext>
              </a:extLst>
            </p:cNvPr>
            <p:cNvSpPr/>
            <p:nvPr/>
          </p:nvSpPr>
          <p:spPr>
            <a:xfrm>
              <a:off x="18830978" y="29442415"/>
              <a:ext cx="1662886" cy="1662885"/>
            </a:xfrm>
            <a:prstGeom prst="roundRect">
              <a:avLst>
                <a:gd name="adj" fmla="val 0"/>
              </a:avLst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4A0BC09-EA8C-6E19-7A83-90ADED7F4452}"/>
                </a:ext>
              </a:extLst>
            </p:cNvPr>
            <p:cNvSpPr txBox="1"/>
            <p:nvPr/>
          </p:nvSpPr>
          <p:spPr>
            <a:xfrm>
              <a:off x="18621592" y="28945060"/>
              <a:ext cx="2115274" cy="497355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noAutofit/>
            </a:bodyPr>
            <a:lstStyle/>
            <a:p>
              <a:pPr marL="720000" lvl="0" indent="-720000" algn="ctr" defTabSz="2159996" latinLnBrk="1">
                <a:spcAft>
                  <a:spcPts val="1200"/>
                </a:spcAft>
              </a:pPr>
              <a:r>
                <a:rPr lang="ko-KR" altLang="en-US" sz="3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시연 영상</a:t>
              </a:r>
              <a:r>
                <a:rPr lang="en-US" altLang="ko-KR" sz="3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URL</a:t>
              </a:r>
              <a:endParaRPr lang="ko-KR" altLang="en-US" sz="3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8971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26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449A4"/>
      </a:accent1>
      <a:accent2>
        <a:srgbClr val="2C9CD7"/>
      </a:accent2>
      <a:accent3>
        <a:srgbClr val="1EAE88"/>
      </a:accent3>
      <a:accent4>
        <a:srgbClr val="F78D0D"/>
      </a:accent4>
      <a:accent5>
        <a:srgbClr val="EC5EA8"/>
      </a:accent5>
      <a:accent6>
        <a:srgbClr val="7148F6"/>
      </a:accent6>
      <a:hlink>
        <a:srgbClr val="70AD47"/>
      </a:hlink>
      <a:folHlink>
        <a:srgbClr val="954F72"/>
      </a:folHlink>
    </a:clrScheme>
    <a:fontScheme name="사용자 지정 3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571500" indent="-571500" algn="l">
          <a:buFont typeface="Arial" panose="020B0604020202020204" pitchFamily="34" charset="0"/>
          <a:buChar char="•"/>
          <a:defRPr sz="4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7343</TotalTime>
  <Words>218</Words>
  <Application>Microsoft Office PowerPoint</Application>
  <PresentationFormat>사용자 지정</PresentationFormat>
  <Paragraphs>32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페이퍼로지 8 ExtraBold</vt:lpstr>
      <vt:lpstr>Arial</vt:lpstr>
      <vt:lpstr>프리젠테이션 7 Bold</vt:lpstr>
      <vt:lpstr>페이퍼로지 6 SemiBold</vt:lpstr>
      <vt:lpstr>프리젠테이션 4 Regular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Owner</dc:creator>
  <cp:lastModifiedBy>김찬호</cp:lastModifiedBy>
  <cp:revision>304</cp:revision>
  <cp:lastPrinted>2023-11-21T09:03:08Z</cp:lastPrinted>
  <dcterms:created xsi:type="dcterms:W3CDTF">2023-05-09T06:06:35Z</dcterms:created>
  <dcterms:modified xsi:type="dcterms:W3CDTF">2026-05-27T02:17:31Z</dcterms:modified>
</cp:coreProperties>
</file>