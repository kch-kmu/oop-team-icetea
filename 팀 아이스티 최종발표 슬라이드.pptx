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embeddedFontLst>
    <p:embeddedFont>
      <p:font typeface="Consolas" panose="020B0609020204030204" pitchFamily="49" charset="0"/>
      <p:regular r:id="rId17"/>
      <p:bold r:id="rId18"/>
      <p:italic r:id="rId19"/>
      <p:boldItalic r:id="rId20"/>
    </p:embeddedFont>
    <p:embeddedFont>
      <p:font typeface="Trebuchet MS" panose="020B0603020202020204" pitchFamily="34" charset="0"/>
      <p:regular r:id="rId21"/>
      <p:bold r:id="rId22"/>
      <p:italic r:id="rId23"/>
      <p:boldItalic r:id="rId24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117" d="100"/>
          <a:sy n="117" d="100"/>
        </p:scale>
        <p:origin x="22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590344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17.svg"/><Relationship Id="rId5" Type="http://schemas.openxmlformats.org/officeDocument/2006/relationships/image" Target="../media/image16.svg"/><Relationship Id="rId4" Type="http://schemas.openxmlformats.org/officeDocument/2006/relationships/image" Target="../media/image15.sv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svg"/><Relationship Id="rId13" Type="http://schemas.openxmlformats.org/officeDocument/2006/relationships/image" Target="../media/image28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12" Type="http://schemas.openxmlformats.org/officeDocument/2006/relationships/image" Target="../media/image27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1.svg"/><Relationship Id="rId11" Type="http://schemas.openxmlformats.org/officeDocument/2006/relationships/image" Target="../media/image26.png"/><Relationship Id="rId5" Type="http://schemas.openxmlformats.org/officeDocument/2006/relationships/image" Target="../media/image20.png"/><Relationship Id="rId10" Type="http://schemas.openxmlformats.org/officeDocument/2006/relationships/image" Target="../media/image25.svg"/><Relationship Id="rId4" Type="http://schemas.openxmlformats.org/officeDocument/2006/relationships/image" Target="../media/image19.svg"/><Relationship Id="rId9" Type="http://schemas.openxmlformats.org/officeDocument/2006/relationships/image" Target="../media/image24.png"/><Relationship Id="rId14" Type="http://schemas.openxmlformats.org/officeDocument/2006/relationships/image" Target="../media/image29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1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unsys.com/q/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4.xml"/><Relationship Id="rId5" Type="http://schemas.openxmlformats.org/officeDocument/2006/relationships/hyperlink" Target="https://play.google.com/store/apps/details?id=com.nflystudio.InfiniteStaircase&amp;hl=ko" TargetMode="External"/><Relationship Id="rId4" Type="http://schemas.openxmlformats.org/officeDocument/2006/relationships/hyperlink" Target="https://www.hancomtaja.com/ko/game" TargetMode="Externa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43550" y="0"/>
            <a:ext cx="3600450" cy="5143500"/>
          </a:xfrm>
          <a:prstGeom prst="rect">
            <a:avLst/>
          </a:prstGeom>
          <a:solidFill>
            <a:srgbClr val="D4E9F7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6296" y="585415"/>
            <a:ext cx="2648396" cy="397259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73943" y="1992362"/>
            <a:ext cx="3575224" cy="3897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ko-KR" altLang="en-US" sz="2450" b="1" dirty="0">
                <a:solidFill>
                  <a:srgbClr val="2E3C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팀 IceTea</a:t>
            </a:r>
            <a:endParaRPr lang="ko-KR" sz="2450" dirty="0"/>
          </a:p>
        </p:txBody>
      </p:sp>
      <p:sp>
        <p:nvSpPr>
          <p:cNvPr id="5" name="Text 2"/>
          <p:cNvSpPr/>
          <p:nvPr/>
        </p:nvSpPr>
        <p:spPr>
          <a:xfrm>
            <a:off x="473943" y="2429396"/>
            <a:ext cx="4915793" cy="3117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ko-KR" altLang="en-US" sz="1950" b="1" dirty="0">
                <a:solidFill>
                  <a:srgbClr val="2E3C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객체지향프로그래밍 팀프로젝트 최종보고서</a:t>
            </a:r>
            <a:endParaRPr lang="ko-KR" sz="1950" dirty="0"/>
          </a:p>
        </p:txBody>
      </p:sp>
      <p:sp>
        <p:nvSpPr>
          <p:cNvPr id="6" name="Shape 3"/>
          <p:cNvSpPr/>
          <p:nvPr/>
        </p:nvSpPr>
        <p:spPr>
          <a:xfrm>
            <a:off x="473943" y="2923654"/>
            <a:ext cx="517401" cy="222647"/>
          </a:xfrm>
          <a:prstGeom prst="roundRect">
            <a:avLst>
              <a:gd name="adj" fmla="val 63861"/>
            </a:avLst>
          </a:prstGeom>
          <a:solidFill>
            <a:srgbClr val="D4E9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4"/>
          <p:cNvSpPr/>
          <p:nvPr/>
        </p:nvSpPr>
        <p:spPr>
          <a:xfrm>
            <a:off x="545009" y="2959150"/>
            <a:ext cx="832470" cy="151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ko-KR" altLang="en-US" sz="700" dirty="0">
                <a:solidFill>
                  <a:srgbClr val="38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기반</a:t>
            </a:r>
            <a:endParaRPr lang="ko-KR" sz="700" dirty="0"/>
          </a:p>
        </p:txBody>
      </p:sp>
      <p:sp>
        <p:nvSpPr>
          <p:cNvPr id="8" name="Shape 5"/>
          <p:cNvSpPr/>
          <p:nvPr/>
        </p:nvSpPr>
        <p:spPr>
          <a:xfrm>
            <a:off x="1050578" y="2918892"/>
            <a:ext cx="786557" cy="232172"/>
          </a:xfrm>
          <a:prstGeom prst="roundRect">
            <a:avLst>
              <a:gd name="adj" fmla="val 61241"/>
            </a:avLst>
          </a:prstGeom>
          <a:noFill/>
          <a:ln w="4763">
            <a:solidFill>
              <a:srgbClr val="75BAE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1126406" y="2959150"/>
            <a:ext cx="1092101" cy="151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ko-KR" altLang="en-US" sz="700" dirty="0">
                <a:solidFill>
                  <a:srgbClr val="75B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교육용 문제은행</a:t>
            </a:r>
            <a:endParaRPr lang="ko-KR" sz="700" dirty="0"/>
          </a:p>
        </p:txBody>
      </p:sp>
      <p:sp>
        <p:nvSpPr>
          <p:cNvPr id="10" name="Shape 7"/>
          <p:cNvSpPr/>
          <p:nvPr/>
        </p:nvSpPr>
        <p:spPr>
          <a:xfrm>
            <a:off x="1896368" y="2918892"/>
            <a:ext cx="560561" cy="232172"/>
          </a:xfrm>
          <a:prstGeom prst="roundRect">
            <a:avLst>
              <a:gd name="adj" fmla="val 61241"/>
            </a:avLst>
          </a:prstGeom>
          <a:noFill/>
          <a:ln w="4763">
            <a:solidFill>
              <a:srgbClr val="75BAE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1972196" y="2959150"/>
            <a:ext cx="866105" cy="151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ko-KR" altLang="en-US" sz="700" dirty="0">
                <a:solidFill>
                  <a:srgbClr val="75B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콘솔 RPG</a:t>
            </a:r>
            <a:endParaRPr lang="ko-KR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00450" cy="5143500"/>
          </a:xfrm>
          <a:prstGeom prst="rect">
            <a:avLst/>
          </a:prstGeom>
          <a:solidFill>
            <a:srgbClr val="D4E9F7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34" y="585415"/>
            <a:ext cx="2648396" cy="397259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902943" y="1422648"/>
            <a:ext cx="3575224" cy="3897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ko-KR" altLang="en-US" sz="2450" b="1" dirty="0">
                <a:solidFill>
                  <a:srgbClr val="2E3C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팀 개요</a:t>
            </a:r>
            <a:endParaRPr lang="ko-KR" sz="2450" dirty="0"/>
          </a:p>
        </p:txBody>
      </p:sp>
      <p:sp>
        <p:nvSpPr>
          <p:cNvPr id="5" name="Shape 2"/>
          <p:cNvSpPr/>
          <p:nvPr/>
        </p:nvSpPr>
        <p:spPr>
          <a:xfrm>
            <a:off x="3902943" y="1990055"/>
            <a:ext cx="2324323" cy="900931"/>
          </a:xfrm>
          <a:prstGeom prst="roundRect">
            <a:avLst>
              <a:gd name="adj" fmla="val 19727"/>
            </a:avLst>
          </a:prstGeom>
          <a:solidFill>
            <a:srgbClr val="D4E9F7"/>
          </a:solidFill>
          <a:ln w="4763">
            <a:solidFill>
              <a:srgbClr val="BACF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/>
          <p:nvPr/>
        </p:nvSpPr>
        <p:spPr>
          <a:xfrm>
            <a:off x="4026173" y="2113285"/>
            <a:ext cx="1558975" cy="2043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ko-KR" altLang="en-US" sz="1200" b="1" dirty="0">
                <a:solidFill>
                  <a:srgbClr val="0000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👥</a:t>
            </a:r>
            <a:r>
              <a:rPr lang="ko-KR" altLang="en-US" sz="1200" b="1" dirty="0">
                <a:solidFill>
                  <a:srgbClr val="3846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팀원 구성</a:t>
            </a:r>
            <a:endParaRPr lang="ko-KR" sz="1200" dirty="0"/>
          </a:p>
        </p:txBody>
      </p:sp>
      <p:sp>
        <p:nvSpPr>
          <p:cNvPr id="7" name="Text 4"/>
          <p:cNvSpPr/>
          <p:nvPr/>
        </p:nvSpPr>
        <p:spPr>
          <a:xfrm>
            <a:off x="4026173" y="2388691"/>
            <a:ext cx="2077864" cy="1895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ko-KR" altLang="en-US" sz="900" dirty="0">
                <a:solidFill>
                  <a:srgbClr val="38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김찬호, 박성현, 이채승, 정승재</a:t>
            </a:r>
            <a:endParaRPr lang="ko-KR" sz="900" dirty="0"/>
          </a:p>
        </p:txBody>
      </p:sp>
      <p:sp>
        <p:nvSpPr>
          <p:cNvPr id="8" name="Shape 5"/>
          <p:cNvSpPr/>
          <p:nvPr/>
        </p:nvSpPr>
        <p:spPr>
          <a:xfrm>
            <a:off x="6345734" y="1990055"/>
            <a:ext cx="2324323" cy="900931"/>
          </a:xfrm>
          <a:prstGeom prst="roundRect">
            <a:avLst>
              <a:gd name="adj" fmla="val 19727"/>
            </a:avLst>
          </a:prstGeom>
          <a:solidFill>
            <a:srgbClr val="D4E9F7"/>
          </a:solidFill>
          <a:ln w="4763">
            <a:solidFill>
              <a:srgbClr val="BACF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6468963" y="2113285"/>
            <a:ext cx="1558975" cy="2043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ko-KR" altLang="en-US" sz="1200" b="1" dirty="0">
                <a:solidFill>
                  <a:srgbClr val="0000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🔗</a:t>
            </a:r>
            <a:r>
              <a:rPr lang="ko-KR" altLang="en-US" sz="1200" b="1" dirty="0">
                <a:solidFill>
                  <a:srgbClr val="3846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코드 공유</a:t>
            </a:r>
            <a:endParaRPr lang="ko-KR" sz="1200" dirty="0"/>
          </a:p>
        </p:txBody>
      </p:sp>
      <p:sp>
        <p:nvSpPr>
          <p:cNvPr id="10" name="Text 7"/>
          <p:cNvSpPr/>
          <p:nvPr/>
        </p:nvSpPr>
        <p:spPr>
          <a:xfrm>
            <a:off x="6468963" y="2388691"/>
            <a:ext cx="2077864" cy="3790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ko-KR" altLang="en-US" sz="900" dirty="0">
                <a:solidFill>
                  <a:srgbClr val="38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GitHub을 이용하여 코드 및 제작 상황을 공유하고 버전 관리를 수행</a:t>
            </a:r>
            <a:endParaRPr lang="ko-KR" sz="900" dirty="0"/>
          </a:p>
        </p:txBody>
      </p:sp>
      <p:sp>
        <p:nvSpPr>
          <p:cNvPr id="11" name="Shape 8"/>
          <p:cNvSpPr/>
          <p:nvPr/>
        </p:nvSpPr>
        <p:spPr>
          <a:xfrm>
            <a:off x="3902943" y="3009454"/>
            <a:ext cx="4767114" cy="711398"/>
          </a:xfrm>
          <a:prstGeom prst="roundRect">
            <a:avLst>
              <a:gd name="adj" fmla="val 24983"/>
            </a:avLst>
          </a:prstGeom>
          <a:solidFill>
            <a:srgbClr val="D4E9F7"/>
          </a:solidFill>
          <a:ln w="4763">
            <a:solidFill>
              <a:srgbClr val="BACF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/>
          <p:nvPr/>
        </p:nvSpPr>
        <p:spPr>
          <a:xfrm>
            <a:off x="4026173" y="3132683"/>
            <a:ext cx="1558975" cy="2043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ko-KR" altLang="en-US" sz="1200" b="1" dirty="0">
                <a:solidFill>
                  <a:srgbClr val="0000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💬</a:t>
            </a:r>
            <a:r>
              <a:rPr lang="ko-KR" altLang="en-US" sz="1200" b="1" dirty="0">
                <a:solidFill>
                  <a:srgbClr val="3846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소통 채널</a:t>
            </a:r>
            <a:endParaRPr lang="ko-KR" sz="1200" dirty="0"/>
          </a:p>
        </p:txBody>
      </p:sp>
      <p:sp>
        <p:nvSpPr>
          <p:cNvPr id="13" name="Text 10"/>
          <p:cNvSpPr/>
          <p:nvPr/>
        </p:nvSpPr>
        <p:spPr>
          <a:xfrm>
            <a:off x="4026173" y="3408090"/>
            <a:ext cx="4520654" cy="1895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ko-KR" altLang="en-US" sz="900" dirty="0">
                <a:solidFill>
                  <a:srgbClr val="38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Discord와 카카오톡을 통해 전체적인 진행 상황과 논의를 공유</a:t>
            </a:r>
            <a:endParaRPr lang="ko-KR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3943" y="1228651"/>
            <a:ext cx="3575224" cy="3897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ko-KR" altLang="en-US" sz="2450" b="1" dirty="0">
                <a:solidFill>
                  <a:srgbClr val="2E3C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프로젝트 개요</a:t>
            </a:r>
            <a:endParaRPr lang="ko-KR" sz="2450" dirty="0"/>
          </a:p>
        </p:txBody>
      </p:sp>
      <p:sp>
        <p:nvSpPr>
          <p:cNvPr id="3" name="Text 1"/>
          <p:cNvSpPr/>
          <p:nvPr/>
        </p:nvSpPr>
        <p:spPr>
          <a:xfrm>
            <a:off x="473943" y="1855291"/>
            <a:ext cx="8653314" cy="1895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ko-KR" altLang="en-US" sz="900" dirty="0">
                <a:solidFill>
                  <a:srgbClr val="38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게임으로 같이 공부하는 </a:t>
            </a:r>
            <a:r>
              <a:rPr lang="ko-KR" altLang="en-US" sz="900" b="1" dirty="0">
                <a:solidFill>
                  <a:srgbClr val="38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오프라인 문제은행 프로그램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388665" y="2178100"/>
            <a:ext cx="4124102" cy="1736750"/>
          </a:xfrm>
          <a:prstGeom prst="roundRect">
            <a:avLst>
              <a:gd name="adj" fmla="val 16374"/>
            </a:avLst>
          </a:prstGeom>
          <a:solidFill>
            <a:srgbClr val="063E5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07132" y="2296567"/>
            <a:ext cx="2016175" cy="2043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ko-KR" altLang="en-US" sz="1200" b="1" dirty="0">
                <a:solidFill>
                  <a:srgbClr val="0000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🎮</a:t>
            </a:r>
            <a:r>
              <a:rPr lang="ko-KR" alt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콘셉트</a:t>
            </a:r>
            <a:endParaRPr lang="ko-KR" sz="1200" dirty="0"/>
          </a:p>
        </p:txBody>
      </p:sp>
      <p:sp>
        <p:nvSpPr>
          <p:cNvPr id="6" name="Text 4"/>
          <p:cNvSpPr/>
          <p:nvPr/>
        </p:nvSpPr>
        <p:spPr>
          <a:xfrm>
            <a:off x="507132" y="2619375"/>
            <a:ext cx="3887167" cy="3790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ko-KR" alt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게임 요소를 접목한 C++ 기반 오프라인 문제은행 프로그램. 사용자가 직접 문제를 제작하고, 연습·시험·게임 모드로 학습함</a:t>
            </a:r>
            <a:endParaRPr lang="ko-KR" sz="900" dirty="0"/>
          </a:p>
        </p:txBody>
      </p:sp>
      <p:sp>
        <p:nvSpPr>
          <p:cNvPr id="7" name="Text 5"/>
          <p:cNvSpPr/>
          <p:nvPr/>
        </p:nvSpPr>
        <p:spPr>
          <a:xfrm>
            <a:off x="507132" y="3116907"/>
            <a:ext cx="2016175" cy="2043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ko-KR" altLang="en-US" sz="1200" b="1" dirty="0">
                <a:solidFill>
                  <a:srgbClr val="0000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📦</a:t>
            </a:r>
            <a:r>
              <a:rPr lang="ko-KR" alt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장르</a:t>
            </a:r>
            <a:endParaRPr lang="ko-KR" sz="1200" dirty="0"/>
          </a:p>
        </p:txBody>
      </p:sp>
      <p:sp>
        <p:nvSpPr>
          <p:cNvPr id="8" name="Text 6"/>
          <p:cNvSpPr/>
          <p:nvPr/>
        </p:nvSpPr>
        <p:spPr>
          <a:xfrm>
            <a:off x="507132" y="3439716"/>
            <a:ext cx="4344367" cy="1895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ko-KR" alt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교육 / 학습 / 콘솔 / RPG 배틀</a:t>
            </a:r>
            <a:endParaRPr lang="ko-KR" sz="900" dirty="0"/>
          </a:p>
        </p:txBody>
      </p:sp>
      <p:sp>
        <p:nvSpPr>
          <p:cNvPr id="9" name="Text 7"/>
          <p:cNvSpPr/>
          <p:nvPr/>
        </p:nvSpPr>
        <p:spPr>
          <a:xfrm>
            <a:off x="4721275" y="2296567"/>
            <a:ext cx="2016175" cy="2043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ko-KR" altLang="en-US" sz="1200" b="1" dirty="0">
                <a:solidFill>
                  <a:srgbClr val="0000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🔥</a:t>
            </a:r>
            <a:r>
              <a:rPr lang="ko-KR" altLang="en-US" sz="1200" b="1" dirty="0">
                <a:solidFill>
                  <a:srgbClr val="2E3C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재미 요소</a:t>
            </a:r>
            <a:endParaRPr lang="ko-KR" sz="12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06987" y="2634183"/>
            <a:ext cx="1931789" cy="114739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4896892" y="2766938"/>
            <a:ext cx="1558975" cy="1948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ko-KR" altLang="en-US" sz="1200" b="1" dirty="0">
                <a:solidFill>
                  <a:srgbClr val="3846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몬스터 처치 모드</a:t>
            </a:r>
            <a:endParaRPr lang="ko-KR" sz="1200" dirty="0"/>
          </a:p>
        </p:txBody>
      </p:sp>
      <p:sp>
        <p:nvSpPr>
          <p:cNvPr id="12" name="Text 9"/>
          <p:cNvSpPr/>
          <p:nvPr/>
        </p:nvSpPr>
        <p:spPr>
          <a:xfrm>
            <a:off x="4896892" y="3080221"/>
            <a:ext cx="1609130" cy="5685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ko-KR" altLang="en-US" sz="900" dirty="0">
                <a:solidFill>
                  <a:srgbClr val="38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시 보스에게 데미지, 3콤보/5콤보 달성 시 데미지 배수 증가</a:t>
            </a:r>
            <a:endParaRPr lang="ko-KR" sz="9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42956" y="2634183"/>
            <a:ext cx="1931863" cy="114739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932861" y="2766938"/>
            <a:ext cx="1558975" cy="1948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ko-KR" altLang="en-US" sz="1200" b="1" dirty="0">
                <a:solidFill>
                  <a:srgbClr val="3846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무한의 탑 모드</a:t>
            </a:r>
            <a:endParaRPr lang="ko-KR" sz="1200" dirty="0"/>
          </a:p>
        </p:txBody>
      </p:sp>
      <p:sp>
        <p:nvSpPr>
          <p:cNvPr id="15" name="Text 11"/>
          <p:cNvSpPr/>
          <p:nvPr/>
        </p:nvSpPr>
        <p:spPr>
          <a:xfrm>
            <a:off x="6932861" y="3080221"/>
            <a:ext cx="1609204" cy="5685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ko-KR" altLang="en-US" sz="900" dirty="0">
                <a:solidFill>
                  <a:srgbClr val="38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목숨 3개로 층을 오르며, 5콤보마다 목숨 회복, 10층마다 보스전 등장</a:t>
            </a:r>
            <a:endParaRPr lang="ko-KR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3943" y="1510680"/>
            <a:ext cx="4401443" cy="3897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ko-KR" altLang="en-US" sz="2450" b="1" dirty="0">
                <a:solidFill>
                  <a:srgbClr val="2E3C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초기 프로포절 대비 변경사항</a:t>
            </a:r>
            <a:endParaRPr lang="ko-KR" sz="2450" dirty="0"/>
          </a:p>
        </p:txBody>
      </p:sp>
      <p:sp>
        <p:nvSpPr>
          <p:cNvPr id="3" name="Text 1"/>
          <p:cNvSpPr/>
          <p:nvPr/>
        </p:nvSpPr>
        <p:spPr>
          <a:xfrm>
            <a:off x="473943" y="2196554"/>
            <a:ext cx="2016175" cy="2043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ko-KR" altLang="en-US" sz="1200" b="1" dirty="0">
                <a:solidFill>
                  <a:srgbClr val="0000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📋</a:t>
            </a:r>
            <a:r>
              <a:rPr lang="ko-KR" altLang="en-US" sz="1200" b="1" dirty="0">
                <a:solidFill>
                  <a:srgbClr val="2E3C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초기 프로포절</a:t>
            </a:r>
            <a:endParaRPr lang="ko-KR" sz="1200" dirty="0"/>
          </a:p>
        </p:txBody>
      </p:sp>
      <p:sp>
        <p:nvSpPr>
          <p:cNvPr id="4" name="Text 2"/>
          <p:cNvSpPr/>
          <p:nvPr/>
        </p:nvSpPr>
        <p:spPr>
          <a:xfrm>
            <a:off x="473943" y="2519363"/>
            <a:ext cx="3953545" cy="8824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ko-KR" altLang="en-US" sz="900" dirty="0">
                <a:solidFill>
                  <a:srgbClr val="38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연습 모드: 랜덤 문제 출제 및 즉시 피드백 제공</a:t>
            </a:r>
            <a:endParaRPr lang="ko-KR" sz="9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ko-KR" altLang="en-US" sz="900" dirty="0">
                <a:solidFill>
                  <a:srgbClr val="38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시험 모드: 종료 후 결과 및 오답 기록 제공</a:t>
            </a:r>
            <a:endParaRPr lang="ko-KR" sz="9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ko-KR" altLang="en-US" sz="900" dirty="0">
                <a:solidFill>
                  <a:srgbClr val="38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게임 모드: 몬스터 전투(정답 시 피해 부여), 무한 생존(생명력 3개) 구현</a:t>
            </a:r>
            <a:endParaRPr lang="ko-KR" sz="9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ko-KR" altLang="en-US" sz="900" dirty="0">
                <a:solidFill>
                  <a:srgbClr val="38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검색/제작 모드: 키워드 기반 문제 검색 및 사용자 데이터 업데이트</a:t>
            </a:r>
            <a:endParaRPr lang="ko-KR" sz="900" dirty="0"/>
          </a:p>
        </p:txBody>
      </p:sp>
      <p:sp>
        <p:nvSpPr>
          <p:cNvPr id="5" name="Shape 3"/>
          <p:cNvSpPr/>
          <p:nvPr/>
        </p:nvSpPr>
        <p:spPr>
          <a:xfrm>
            <a:off x="4635996" y="2078087"/>
            <a:ext cx="4124102" cy="1554733"/>
          </a:xfrm>
          <a:prstGeom prst="roundRect">
            <a:avLst>
              <a:gd name="adj" fmla="val 18291"/>
            </a:avLst>
          </a:prstGeom>
          <a:solidFill>
            <a:srgbClr val="063E5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4754463" y="2196554"/>
            <a:ext cx="2016175" cy="2043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ko-KR" altLang="en-US" sz="1200" b="1" dirty="0">
                <a:solidFill>
                  <a:srgbClr val="0000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🔄</a:t>
            </a:r>
            <a:r>
              <a:rPr lang="ko-KR" alt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변경사항</a:t>
            </a:r>
            <a:endParaRPr lang="ko-KR" sz="1200" dirty="0"/>
          </a:p>
        </p:txBody>
      </p:sp>
      <p:sp>
        <p:nvSpPr>
          <p:cNvPr id="7" name="Text 5"/>
          <p:cNvSpPr/>
          <p:nvPr/>
        </p:nvSpPr>
        <p:spPr>
          <a:xfrm>
            <a:off x="4754463" y="2519363"/>
            <a:ext cx="3887167" cy="10720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33000"/>
              </a:lnSpc>
              <a:buSzPct val="100000"/>
              <a:buFont typeface="+mj-lt"/>
              <a:buAutoNum type="arabicPeriod"/>
            </a:pPr>
            <a:r>
              <a:rPr lang="ko-KR" alt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객체지향 설계 단순화: Monster 상속·GameMode 추상클래스 → 함수 기반으로 변경</a:t>
            </a:r>
            <a:endParaRPr lang="ko-KR" sz="900" dirty="0"/>
          </a:p>
          <a:p>
            <a:pPr marL="342900" indent="-342900" algn="l">
              <a:lnSpc>
                <a:spcPct val="133000"/>
              </a:lnSpc>
              <a:buSzPct val="100000"/>
              <a:buFont typeface="+mj-lt"/>
              <a:buAutoNum type="arabicPeriod" startAt="2"/>
            </a:pPr>
            <a:r>
              <a:rPr lang="ko-KR" alt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무한 생존 모드 → '무한의 탑' 형식으로 구체화 (10층마다 보스층 추가)</a:t>
            </a:r>
            <a:endParaRPr lang="ko-KR" sz="900" dirty="0"/>
          </a:p>
          <a:p>
            <a:pPr marL="342900" indent="-342900" algn="l">
              <a:lnSpc>
                <a:spcPct val="133000"/>
              </a:lnSpc>
              <a:buSzPct val="100000"/>
              <a:buFont typeface="+mj-lt"/>
              <a:buAutoNum type="arabicPeriod" startAt="3"/>
            </a:pPr>
            <a:r>
              <a:rPr lang="ko-KR" alt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파일 기반 문제 데이터 관리 체계 도입</a:t>
            </a:r>
            <a:endParaRPr lang="ko-KR" sz="900" dirty="0"/>
          </a:p>
          <a:p>
            <a:pPr marL="342900" indent="-342900" algn="l">
              <a:lnSpc>
                <a:spcPct val="133000"/>
              </a:lnSpc>
              <a:buSzPct val="100000"/>
              <a:buFont typeface="+mj-lt"/>
              <a:buAutoNum type="arabicPeriod" startAt="4"/>
            </a:pPr>
            <a:r>
              <a:rPr lang="ko-KR" alt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새 과목 등록 기능 추가 (번호·이름 직접 입력, 자동 파일 생성)</a:t>
            </a:r>
            <a:endParaRPr lang="ko-KR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7268" y="306735"/>
            <a:ext cx="3670622" cy="334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ko-KR" altLang="en-US" sz="2100" b="1" dirty="0">
                <a:solidFill>
                  <a:srgbClr val="2E3C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4. 프로그램 구조 및 화면 설계</a:t>
            </a:r>
            <a:endParaRPr lang="ko-KR" sz="2100" dirty="0"/>
          </a:p>
        </p:txBody>
      </p:sp>
      <p:sp>
        <p:nvSpPr>
          <p:cNvPr id="3" name="Text 1"/>
          <p:cNvSpPr/>
          <p:nvPr/>
        </p:nvSpPr>
        <p:spPr>
          <a:xfrm>
            <a:off x="407268" y="816620"/>
            <a:ext cx="8329464" cy="30747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4000"/>
              </a:lnSpc>
              <a:buNone/>
            </a:pPr>
            <a:r>
              <a:rPr lang="ko-KR" altLang="en-US" sz="800" dirty="0">
                <a:solidFill>
                  <a:srgbClr val="38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메인 메뉴에서 방향키로 모드를 선택하고 Enter로 진입하며, 연습/시험/게임/검색/문제제작 총 5가지 기능을 제공합니다. 키 입력은 </a:t>
            </a:r>
            <a:r>
              <a:rPr lang="ko-KR" altLang="en-US" sz="800" dirty="0">
                <a:solidFill>
                  <a:srgbClr val="38465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_getch()</a:t>
            </a:r>
            <a:r>
              <a:rPr lang="ko-KR" altLang="en-US" sz="800" dirty="0">
                <a:solidFill>
                  <a:srgbClr val="38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기반이며, 화면 전환은 ANSI 이스케이프코드를 사용합니다.</a:t>
            </a:r>
            <a:endParaRPr lang="ko-KR" sz="8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268" y="1320850"/>
            <a:ext cx="3659014" cy="293250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07268" y="4351734"/>
            <a:ext cx="1796951" cy="1674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ko-KR" altLang="en-US" sz="1050" b="1" dirty="0">
                <a:solidFill>
                  <a:srgbClr val="2E3C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메인 메뉴 화면</a:t>
            </a:r>
            <a:endParaRPr lang="ko-KR" sz="1050" dirty="0"/>
          </a:p>
        </p:txBody>
      </p:sp>
      <p:sp>
        <p:nvSpPr>
          <p:cNvPr id="6" name="Text 3"/>
          <p:cNvSpPr/>
          <p:nvPr/>
        </p:nvSpPr>
        <p:spPr>
          <a:xfrm>
            <a:off x="407268" y="4606603"/>
            <a:ext cx="4497735" cy="1513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ko-KR" altLang="en-US" sz="800" dirty="0">
                <a:solidFill>
                  <a:srgbClr val="38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ASCII 로고와 5가지 기능을 선택하는 메인 진입 화면입니다.</a:t>
            </a:r>
            <a:endParaRPr lang="ko-KR" sz="8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0960" y="1419225"/>
            <a:ext cx="4040535" cy="1658541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700960" y="3176141"/>
            <a:ext cx="4443040" cy="1513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endParaRPr lang="en-US" sz="800" dirty="0"/>
          </a:p>
        </p:txBody>
      </p:sp>
      <p:sp>
        <p:nvSpPr>
          <p:cNvPr id="9" name="Text 5"/>
          <p:cNvSpPr/>
          <p:nvPr/>
        </p:nvSpPr>
        <p:spPr>
          <a:xfrm>
            <a:off x="4700960" y="3414936"/>
            <a:ext cx="1796951" cy="1674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ko-KR" altLang="en-US" sz="1050" b="1" dirty="0">
                <a:solidFill>
                  <a:srgbClr val="2E3C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연습/시험 모드 화면</a:t>
            </a:r>
            <a:endParaRPr lang="ko-KR" sz="1050" dirty="0"/>
          </a:p>
        </p:txBody>
      </p:sp>
      <p:sp>
        <p:nvSpPr>
          <p:cNvPr id="10" name="Text 6"/>
          <p:cNvSpPr/>
          <p:nvPr/>
        </p:nvSpPr>
        <p:spPr>
          <a:xfrm>
            <a:off x="4700960" y="3669804"/>
            <a:ext cx="4443040" cy="1513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ko-KR" altLang="en-US" sz="800" dirty="0">
                <a:solidFill>
                  <a:srgbClr val="38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 출제와 선택지가 함께 표시되는 학습 화면입니다.</a:t>
            </a:r>
            <a:endParaRPr lang="ko-KR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7268" y="306735"/>
            <a:ext cx="3137222" cy="334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ko-KR" altLang="en-US" sz="2100" b="1" dirty="0">
                <a:solidFill>
                  <a:srgbClr val="2E3C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4-2. 게임 모드 화면 설계</a:t>
            </a:r>
            <a:endParaRPr lang="ko-KR" sz="2100" dirty="0"/>
          </a:p>
        </p:txBody>
      </p:sp>
      <p:sp>
        <p:nvSpPr>
          <p:cNvPr id="3" name="Text 1"/>
          <p:cNvSpPr/>
          <p:nvPr/>
        </p:nvSpPr>
        <p:spPr>
          <a:xfrm>
            <a:off x="407268" y="816620"/>
            <a:ext cx="8329464" cy="30747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4000"/>
              </a:lnSpc>
              <a:buNone/>
            </a:pPr>
            <a:r>
              <a:rPr lang="ko-KR" altLang="en-US" sz="800" dirty="0">
                <a:solidFill>
                  <a:srgbClr val="38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메인 메뉴에서 방향키로 모드를 선택하고 Enter로 진입하며, 연습/시험/게임/검색/문제제작 총 5가지 기능을 제공합니다. 키 입력은 </a:t>
            </a:r>
            <a:r>
              <a:rPr lang="ko-KR" altLang="en-US" sz="800" dirty="0">
                <a:solidFill>
                  <a:srgbClr val="38465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_getch()</a:t>
            </a:r>
            <a:r>
              <a:rPr lang="ko-KR" altLang="en-US" sz="800" dirty="0">
                <a:solidFill>
                  <a:srgbClr val="38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기반이며, 화면 전환은 ANSI 이스케이프코드를 사용합니다.</a:t>
            </a:r>
            <a:endParaRPr lang="ko-KR" sz="8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8868" y="1320850"/>
            <a:ext cx="2497336" cy="293250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07268" y="4351734"/>
            <a:ext cx="1796951" cy="1674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ko-KR" altLang="en-US" sz="1050" b="1" dirty="0">
                <a:solidFill>
                  <a:srgbClr val="2E3C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몬스터 처치 모드</a:t>
            </a:r>
            <a:endParaRPr lang="ko-KR" sz="1050" dirty="0"/>
          </a:p>
        </p:txBody>
      </p:sp>
      <p:sp>
        <p:nvSpPr>
          <p:cNvPr id="6" name="Text 3"/>
          <p:cNvSpPr/>
          <p:nvPr/>
        </p:nvSpPr>
        <p:spPr>
          <a:xfrm>
            <a:off x="407268" y="4606603"/>
            <a:ext cx="4497735" cy="1513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ko-KR" altLang="en-US" sz="800" dirty="0">
                <a:solidFill>
                  <a:srgbClr val="38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정답으로 몬스터에게 피해를 주며 진행하는 전투 화면입니다.</a:t>
            </a:r>
            <a:endParaRPr lang="ko-KR" sz="8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0960" y="1320850"/>
            <a:ext cx="4040535" cy="248223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700960" y="3901455"/>
            <a:ext cx="1796951" cy="1674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ko-KR" altLang="en-US" sz="1050" b="1" dirty="0">
                <a:solidFill>
                  <a:srgbClr val="2E3C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무한의 탑 모드</a:t>
            </a:r>
            <a:endParaRPr lang="ko-KR" sz="1050" dirty="0"/>
          </a:p>
        </p:txBody>
      </p:sp>
      <p:sp>
        <p:nvSpPr>
          <p:cNvPr id="9" name="Text 5"/>
          <p:cNvSpPr/>
          <p:nvPr/>
        </p:nvSpPr>
        <p:spPr>
          <a:xfrm>
            <a:off x="4700960" y="4156323"/>
            <a:ext cx="4443040" cy="1513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ko-KR" altLang="en-US" sz="800" dirty="0">
                <a:solidFill>
                  <a:srgbClr val="38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층을 오르며 생존하는 방식의 도전형 게임 화면입니다.</a:t>
            </a:r>
            <a:endParaRPr lang="ko-KR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3943" y="832470"/>
            <a:ext cx="3575224" cy="3897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ko-KR" altLang="en-US" sz="2450" b="1" dirty="0">
                <a:solidFill>
                  <a:srgbClr val="2E3C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5. 기술적 구현 현황</a:t>
            </a:r>
            <a:endParaRPr lang="ko-KR" sz="2450" dirty="0"/>
          </a:p>
        </p:txBody>
      </p:sp>
      <p:sp>
        <p:nvSpPr>
          <p:cNvPr id="3" name="Shape 1"/>
          <p:cNvSpPr/>
          <p:nvPr/>
        </p:nvSpPr>
        <p:spPr>
          <a:xfrm>
            <a:off x="388665" y="1399877"/>
            <a:ext cx="3275558" cy="2911153"/>
          </a:xfrm>
          <a:prstGeom prst="roundRect">
            <a:avLst>
              <a:gd name="adj" fmla="val 9768"/>
            </a:avLst>
          </a:prstGeom>
          <a:solidFill>
            <a:srgbClr val="063E5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507132" y="1518345"/>
            <a:ext cx="2016175" cy="2043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ko-KR" altLang="en-US" sz="1200" b="1" dirty="0">
                <a:solidFill>
                  <a:srgbClr val="0000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🛠</a:t>
            </a:r>
            <a:r>
              <a:rPr lang="ko-KR" alt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개발 환경</a:t>
            </a:r>
            <a:endParaRPr lang="ko-KR" sz="1200" dirty="0"/>
          </a:p>
        </p:txBody>
      </p:sp>
      <p:sp>
        <p:nvSpPr>
          <p:cNvPr id="5" name="Text 3"/>
          <p:cNvSpPr/>
          <p:nvPr/>
        </p:nvSpPr>
        <p:spPr>
          <a:xfrm>
            <a:off x="507132" y="1841153"/>
            <a:ext cx="3038624" cy="5685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ko-KR" alt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언어: C++</a:t>
            </a:r>
            <a:endParaRPr lang="ko-KR" sz="9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ko-KR" alt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IDE: Visual Studio 2022</a:t>
            </a:r>
            <a:endParaRPr lang="ko-KR" sz="9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ko-KR" alt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표준: C++17</a:t>
            </a:r>
            <a:endParaRPr lang="ko-KR" sz="900" dirty="0"/>
          </a:p>
        </p:txBody>
      </p:sp>
      <p:sp>
        <p:nvSpPr>
          <p:cNvPr id="6" name="Text 4"/>
          <p:cNvSpPr/>
          <p:nvPr/>
        </p:nvSpPr>
        <p:spPr>
          <a:xfrm>
            <a:off x="3872731" y="1518345"/>
            <a:ext cx="2016175" cy="2043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ko-KR" altLang="en-US" sz="1200" b="1" dirty="0">
                <a:solidFill>
                  <a:srgbClr val="0000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📦</a:t>
            </a:r>
            <a:r>
              <a:rPr lang="ko-KR" altLang="en-US" sz="1200" b="1" dirty="0">
                <a:solidFill>
                  <a:srgbClr val="2E3C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주요 구조체</a:t>
            </a:r>
            <a:endParaRPr lang="ko-KR" sz="1200" dirty="0"/>
          </a:p>
        </p:txBody>
      </p:sp>
      <p:sp>
        <p:nvSpPr>
          <p:cNvPr id="7" name="Shape 5"/>
          <p:cNvSpPr/>
          <p:nvPr/>
        </p:nvSpPr>
        <p:spPr>
          <a:xfrm>
            <a:off x="3872731" y="1855961"/>
            <a:ext cx="4802014" cy="2321793"/>
          </a:xfrm>
          <a:prstGeom prst="roundRect">
            <a:avLst>
              <a:gd name="adj" fmla="val 7655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3866852" y="1855961"/>
            <a:ext cx="4813771" cy="2321793"/>
          </a:xfrm>
          <a:prstGeom prst="roundRect">
            <a:avLst>
              <a:gd name="adj" fmla="val 765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4014936" y="1974428"/>
            <a:ext cx="4517603" cy="20848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ko-KR" altLang="en-US" sz="900" dirty="0">
                <a:solidFill>
                  <a:srgbClr val="D73A49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struct Question {</a:t>
            </a:r>
            <a:endParaRPr lang="ko-KR" sz="9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ko-KR" altLang="en-US" sz="900" dirty="0">
                <a:solidFill>
                  <a:srgbClr val="D73A49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 answer;          // 정답</a:t>
            </a:r>
            <a:endParaRPr lang="ko-KR" sz="9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ko-KR" altLang="en-US" sz="900" dirty="0">
                <a:solidFill>
                  <a:srgbClr val="D73A49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 wrongAnswer1;    // 오답 1번</a:t>
            </a:r>
            <a:endParaRPr lang="ko-KR" sz="9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ko-KR" altLang="en-US" sz="900" dirty="0">
                <a:solidFill>
                  <a:srgbClr val="D73A49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 wrongAnswer2;    // 오답 2번</a:t>
            </a:r>
            <a:endParaRPr lang="ko-KR" sz="9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ko-KR" altLang="en-US" sz="900" dirty="0">
                <a:solidFill>
                  <a:srgbClr val="D73A49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 wrongAnswer3;    // 오답 3번</a:t>
            </a:r>
            <a:endParaRPr lang="ko-KR" sz="9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ko-KR" altLang="en-US" sz="900" dirty="0">
                <a:solidFill>
                  <a:srgbClr val="D73A49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 desc;            // 문제 설명</a:t>
            </a:r>
            <a:endParaRPr lang="ko-KR" sz="9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ko-KR" altLang="en-US" sz="900" dirty="0">
                <a:solidFill>
                  <a:srgbClr val="D73A49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 commentary;      // 해설 (정답 선택 후 표시)</a:t>
            </a:r>
            <a:endParaRPr lang="ko-KR" sz="9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ko-KR" altLang="en-US" sz="900" dirty="0">
                <a:solidFill>
                  <a:srgbClr val="D73A49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 searchKeyword;   // 검색용 키워드</a:t>
            </a:r>
            <a:endParaRPr lang="ko-KR" sz="9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ko-KR" altLang="en-US" sz="900" dirty="0">
                <a:solidFill>
                  <a:srgbClr val="D73A49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 vector wrongChoices;    // 추가 오답 후보 풀</a:t>
            </a:r>
            <a:endParaRPr lang="ko-KR" sz="9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ko-KR" altLang="en-US" sz="900" dirty="0">
                <a:solidFill>
                  <a:srgbClr val="D73A49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  int level;              // 난이도</a:t>
            </a:r>
            <a:endParaRPr lang="ko-KR" sz="9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ko-KR" altLang="en-US" sz="900" dirty="0">
                <a:solidFill>
                  <a:srgbClr val="D73A49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};</a:t>
            </a:r>
            <a:endParaRPr lang="ko-KR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3943" y="1113383"/>
            <a:ext cx="3575224" cy="3897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ko-KR" altLang="en-US" sz="2450" b="1" dirty="0">
                <a:solidFill>
                  <a:srgbClr val="2E3C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5-2. 사용자 정의 함수</a:t>
            </a:r>
            <a:endParaRPr lang="ko-KR" sz="2450" dirty="0"/>
          </a:p>
        </p:txBody>
      </p:sp>
      <p:sp>
        <p:nvSpPr>
          <p:cNvPr id="3" name="Text 1"/>
          <p:cNvSpPr/>
          <p:nvPr/>
        </p:nvSpPr>
        <p:spPr>
          <a:xfrm>
            <a:off x="473943" y="1740024"/>
            <a:ext cx="236934" cy="1480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3846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9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943" y="1927101"/>
            <a:ext cx="2653010" cy="1428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73943" y="2014910"/>
            <a:ext cx="2653010" cy="3838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ko-KR" altLang="en-US" sz="900" dirty="0">
                <a:solidFill>
                  <a:srgbClr val="38465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LoadAllQuestionData()</a:t>
            </a:r>
            <a:r>
              <a:rPr lang="ko-KR" altLang="en-US" sz="900" dirty="0">
                <a:solidFill>
                  <a:srgbClr val="38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시작 시 QuestionData 폴더의 모든 CSV를 자동 탐색 및 로드</a:t>
            </a:r>
            <a:endParaRPr lang="ko-KR" sz="900" dirty="0"/>
          </a:p>
        </p:txBody>
      </p:sp>
      <p:sp>
        <p:nvSpPr>
          <p:cNvPr id="6" name="Text 3"/>
          <p:cNvSpPr/>
          <p:nvPr/>
        </p:nvSpPr>
        <p:spPr>
          <a:xfrm>
            <a:off x="3245421" y="1740024"/>
            <a:ext cx="236934" cy="1480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3846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9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5421" y="1927101"/>
            <a:ext cx="2653085" cy="1428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245421" y="2014910"/>
            <a:ext cx="2653085" cy="3838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ko-KR" altLang="en-US" sz="900" dirty="0">
                <a:solidFill>
                  <a:srgbClr val="38465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PracticeQuestionSolve()</a:t>
            </a:r>
            <a:r>
              <a:rPr lang="ko-KR" altLang="en-US" sz="900" dirty="0">
                <a:solidFill>
                  <a:srgbClr val="38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연습 모드: 문제 출제 및 즉시 피드백 제공</a:t>
            </a:r>
            <a:endParaRPr lang="ko-KR" sz="900" dirty="0"/>
          </a:p>
        </p:txBody>
      </p:sp>
      <p:sp>
        <p:nvSpPr>
          <p:cNvPr id="9" name="Text 5"/>
          <p:cNvSpPr/>
          <p:nvPr/>
        </p:nvSpPr>
        <p:spPr>
          <a:xfrm>
            <a:off x="6016972" y="1740024"/>
            <a:ext cx="236934" cy="1480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3846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9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6972" y="1927101"/>
            <a:ext cx="2653010" cy="14288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016972" y="2014910"/>
            <a:ext cx="2653010" cy="3838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ko-KR" altLang="en-US" sz="900" dirty="0">
                <a:solidFill>
                  <a:srgbClr val="38465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ExamQuestionSolve()</a:t>
            </a:r>
            <a:r>
              <a:rPr lang="ko-KR" altLang="en-US" sz="900" dirty="0">
                <a:solidFill>
                  <a:srgbClr val="38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시험 모드: 종료 후 결과 및 오답 리스트 제공</a:t>
            </a:r>
            <a:endParaRPr lang="ko-KR" sz="900" dirty="0"/>
          </a:p>
        </p:txBody>
      </p:sp>
      <p:sp>
        <p:nvSpPr>
          <p:cNvPr id="12" name="Text 7"/>
          <p:cNvSpPr/>
          <p:nvPr/>
        </p:nvSpPr>
        <p:spPr>
          <a:xfrm>
            <a:off x="473943" y="2606055"/>
            <a:ext cx="236934" cy="1480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3846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90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943" y="2781300"/>
            <a:ext cx="2653010" cy="14288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73943" y="2880940"/>
            <a:ext cx="2653010" cy="3838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ko-KR" altLang="en-US" sz="900" dirty="0">
                <a:solidFill>
                  <a:srgbClr val="38465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BossMonsterMode()</a:t>
            </a:r>
            <a:r>
              <a:rPr lang="ko-KR" altLang="en-US" sz="900" dirty="0">
                <a:solidFill>
                  <a:srgbClr val="38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보스 HP 100, 제한시간 120초, 콤보 달성 시 데미지 배수 증가</a:t>
            </a:r>
            <a:endParaRPr lang="ko-KR" sz="900" dirty="0"/>
          </a:p>
        </p:txBody>
      </p:sp>
      <p:sp>
        <p:nvSpPr>
          <p:cNvPr id="15" name="Text 9"/>
          <p:cNvSpPr/>
          <p:nvPr/>
        </p:nvSpPr>
        <p:spPr>
          <a:xfrm>
            <a:off x="3245421" y="2606055"/>
            <a:ext cx="236934" cy="1480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3846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90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5421" y="2781300"/>
            <a:ext cx="2653085" cy="14288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3245421" y="2880940"/>
            <a:ext cx="2653085" cy="3838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ko-KR" altLang="en-US" sz="900" dirty="0">
                <a:solidFill>
                  <a:srgbClr val="38465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InfiniteTowerMode()</a:t>
            </a:r>
            <a:r>
              <a:rPr lang="ko-KR" altLang="en-US" sz="900" dirty="0">
                <a:solidFill>
                  <a:srgbClr val="38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목숨 3개로 층을 오르며, 10층마다 보스전 등장</a:t>
            </a:r>
            <a:endParaRPr lang="ko-KR" sz="900" dirty="0"/>
          </a:p>
        </p:txBody>
      </p:sp>
      <p:sp>
        <p:nvSpPr>
          <p:cNvPr id="18" name="Text 11"/>
          <p:cNvSpPr/>
          <p:nvPr/>
        </p:nvSpPr>
        <p:spPr>
          <a:xfrm>
            <a:off x="6016972" y="2606055"/>
            <a:ext cx="236934" cy="1480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3846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900" dirty="0"/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6972" y="2793132"/>
            <a:ext cx="2653010" cy="14288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6016972" y="2880940"/>
            <a:ext cx="2653010" cy="1942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ko-KR" altLang="en-US" sz="900" dirty="0">
                <a:solidFill>
                  <a:srgbClr val="38465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MakeQuestion()</a:t>
            </a:r>
            <a:r>
              <a:rPr lang="ko-KR" altLang="en-US" sz="900" dirty="0">
                <a:solidFill>
                  <a:srgbClr val="38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문제 제작 및 CSV 저장</a:t>
            </a:r>
            <a:endParaRPr lang="ko-KR" sz="900" dirty="0"/>
          </a:p>
        </p:txBody>
      </p:sp>
      <p:sp>
        <p:nvSpPr>
          <p:cNvPr id="21" name="Text 13"/>
          <p:cNvSpPr/>
          <p:nvPr/>
        </p:nvSpPr>
        <p:spPr>
          <a:xfrm>
            <a:off x="473943" y="3472086"/>
            <a:ext cx="236934" cy="1480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3846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07</a:t>
            </a:r>
            <a:endParaRPr lang="en-US" sz="900" dirty="0"/>
          </a:p>
        </p:txBody>
      </p:sp>
      <p:pic>
        <p:nvPicPr>
          <p:cNvPr id="22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943" y="3635499"/>
            <a:ext cx="8196039" cy="14288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473943" y="3746971"/>
            <a:ext cx="8196039" cy="1942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ko-KR" altLang="en-US" sz="900" dirty="0">
                <a:solidFill>
                  <a:srgbClr val="38465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ParseCSVLine()</a:t>
            </a:r>
            <a:r>
              <a:rPr lang="ko-KR" altLang="en-US" sz="900" dirty="0">
                <a:solidFill>
                  <a:srgbClr val="38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멀티라인 필드를 지원하는 CSV 파서</a:t>
            </a:r>
            <a:endParaRPr lang="ko-KR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7268" y="295796"/>
            <a:ext cx="4892948" cy="334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ko-KR" altLang="en-US" sz="2100" b="1" dirty="0">
                <a:solidFill>
                  <a:srgbClr val="2E3C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5-3. 객체지향적 요소 및 프로그램 흐름도</a:t>
            </a:r>
            <a:endParaRPr lang="ko-KR" sz="21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2981" y="805681"/>
            <a:ext cx="2732484" cy="60818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217" y="921767"/>
            <a:ext cx="1339751" cy="1674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ko-KR" altLang="en-US" sz="1050" b="1" dirty="0">
                <a:solidFill>
                  <a:srgbClr val="3846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데이터 캡슐화</a:t>
            </a:r>
            <a:endParaRPr lang="ko-KR" sz="1050" dirty="0"/>
          </a:p>
        </p:txBody>
      </p:sp>
      <p:sp>
        <p:nvSpPr>
          <p:cNvPr id="5" name="Text 2"/>
          <p:cNvSpPr/>
          <p:nvPr/>
        </p:nvSpPr>
        <p:spPr>
          <a:xfrm>
            <a:off x="566217" y="1141661"/>
            <a:ext cx="2443163" cy="1561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ko-KR" altLang="en-US" sz="800" dirty="0">
                <a:solidFill>
                  <a:srgbClr val="38465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struct Question</a:t>
            </a:r>
            <a:r>
              <a:rPr lang="ko-KR" altLang="en-US" sz="800" dirty="0">
                <a:solidFill>
                  <a:srgbClr val="38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을 통한 문제 데이터 캡슐화</a:t>
            </a:r>
            <a:endParaRPr lang="ko-KR" sz="8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98614" y="805681"/>
            <a:ext cx="2732484" cy="60818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371850" y="921767"/>
            <a:ext cx="1339751" cy="1674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ko-KR" altLang="en-US" sz="1050" b="1" dirty="0">
                <a:solidFill>
                  <a:srgbClr val="3846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모듈 분리</a:t>
            </a:r>
            <a:endParaRPr lang="ko-KR" sz="1050" dirty="0"/>
          </a:p>
        </p:txBody>
      </p:sp>
      <p:sp>
        <p:nvSpPr>
          <p:cNvPr id="8" name="Text 4"/>
          <p:cNvSpPr/>
          <p:nvPr/>
        </p:nvSpPr>
        <p:spPr>
          <a:xfrm>
            <a:off x="3371850" y="1141661"/>
            <a:ext cx="2443163" cy="1561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ko-KR" altLang="en-US" sz="800" dirty="0">
                <a:solidFill>
                  <a:srgbClr val="38465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.h/.cpp</a:t>
            </a:r>
            <a:r>
              <a:rPr lang="ko-KR" altLang="en-US" sz="800" dirty="0">
                <a:solidFill>
                  <a:srgbClr val="38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파일 분리 구현</a:t>
            </a:r>
            <a:endParaRPr lang="ko-KR" sz="8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04247" y="805681"/>
            <a:ext cx="2732484" cy="608186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177483" y="921767"/>
            <a:ext cx="1339751" cy="1674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ko-KR" altLang="en-US" sz="1050" b="1" dirty="0">
                <a:solidFill>
                  <a:srgbClr val="3846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함수 파라미터 활용</a:t>
            </a:r>
            <a:endParaRPr lang="ko-KR" sz="1050" dirty="0"/>
          </a:p>
        </p:txBody>
      </p:sp>
      <p:sp>
        <p:nvSpPr>
          <p:cNvPr id="11" name="Text 6"/>
          <p:cNvSpPr/>
          <p:nvPr/>
        </p:nvSpPr>
        <p:spPr>
          <a:xfrm>
            <a:off x="6177483" y="1141661"/>
            <a:ext cx="2443163" cy="1561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ko-KR" altLang="en-US" sz="800" dirty="0">
                <a:solidFill>
                  <a:srgbClr val="38465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SelectSubjectMenu()</a:t>
            </a:r>
            <a:r>
              <a:rPr lang="ko-KR" altLang="en-US" sz="800" dirty="0">
                <a:solidFill>
                  <a:srgbClr val="38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기본값 파라미터 활용</a:t>
            </a:r>
            <a:endParaRPr lang="ko-KR" sz="800" dirty="0"/>
          </a:p>
        </p:txBody>
      </p:sp>
      <p:sp>
        <p:nvSpPr>
          <p:cNvPr id="12" name="Text 7"/>
          <p:cNvSpPr/>
          <p:nvPr/>
        </p:nvSpPr>
        <p:spPr>
          <a:xfrm>
            <a:off x="407268" y="1545059"/>
            <a:ext cx="2600846" cy="2679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ko-KR" altLang="en-US" sz="1650" b="1" dirty="0">
                <a:solidFill>
                  <a:srgbClr val="2E3C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프로그램 흐름도</a:t>
            </a:r>
            <a:endParaRPr lang="ko-KR" sz="1650" dirty="0"/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651C7634-458F-B1E8-C45B-C5EE62D1E1D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4037" y="1545059"/>
            <a:ext cx="1704114" cy="3390438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A2AC8D54-9BED-1D67-EAF7-7D2DD20D2B9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400" y="1944216"/>
            <a:ext cx="2211065" cy="3108636"/>
          </a:xfrm>
          <a:prstGeom prst="rect">
            <a:avLst/>
          </a:prstGeom>
        </p:spPr>
      </p:pic>
      <p:grpSp>
        <p:nvGrpSpPr>
          <p:cNvPr id="25" name="그룹 24">
            <a:extLst>
              <a:ext uri="{FF2B5EF4-FFF2-40B4-BE49-F238E27FC236}">
                <a16:creationId xmlns:a16="http://schemas.microsoft.com/office/drawing/2014/main" id="{7C81FA4A-8E2C-0CD9-7E0F-1E0EC58B930D}"/>
              </a:ext>
            </a:extLst>
          </p:cNvPr>
          <p:cNvGrpSpPr/>
          <p:nvPr/>
        </p:nvGrpSpPr>
        <p:grpSpPr>
          <a:xfrm>
            <a:off x="808463" y="4611599"/>
            <a:ext cx="1693891" cy="377020"/>
            <a:chOff x="559452" y="4382999"/>
            <a:chExt cx="1693891" cy="377020"/>
          </a:xfrm>
        </p:grpSpPr>
        <p:pic>
          <p:nvPicPr>
            <p:cNvPr id="23" name="Image 1" descr="preencoded.png">
              <a:extLst>
                <a:ext uri="{FF2B5EF4-FFF2-40B4-BE49-F238E27FC236}">
                  <a16:creationId xmlns:a16="http://schemas.microsoft.com/office/drawing/2014/main" id="{0DC1F6CD-B5C6-4B6C-FED3-54489A3B6DB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9452" y="4382999"/>
              <a:ext cx="1693891" cy="377020"/>
            </a:xfrm>
            <a:prstGeom prst="rect">
              <a:avLst/>
            </a:prstGeom>
          </p:spPr>
        </p:pic>
        <p:sp>
          <p:nvSpPr>
            <p:cNvPr id="24" name="Text 3">
              <a:extLst>
                <a:ext uri="{FF2B5EF4-FFF2-40B4-BE49-F238E27FC236}">
                  <a16:creationId xmlns:a16="http://schemas.microsoft.com/office/drawing/2014/main" id="{E7B904BD-DF9A-5F8E-58D5-1F67D18DFF29}"/>
                </a:ext>
              </a:extLst>
            </p:cNvPr>
            <p:cNvSpPr/>
            <p:nvPr/>
          </p:nvSpPr>
          <p:spPr>
            <a:xfrm>
              <a:off x="736521" y="4487793"/>
              <a:ext cx="1339751" cy="167432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ko-KR" altLang="en-US" sz="1050" b="1" dirty="0">
                  <a:solidFill>
                    <a:srgbClr val="384653"/>
                  </a:solidFill>
                  <a:latin typeface="Trebuchet MS" pitchFamily="34" charset="0"/>
                </a:rPr>
                <a:t>프로그램 시작 시 흐름도</a:t>
              </a:r>
              <a:endParaRPr lang="ko-KR" sz="1050" dirty="0"/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51B502B8-32D3-7054-B9C7-73ABB7E4BBC8}"/>
              </a:ext>
            </a:extLst>
          </p:cNvPr>
          <p:cNvGrpSpPr/>
          <p:nvPr/>
        </p:nvGrpSpPr>
        <p:grpSpPr>
          <a:xfrm>
            <a:off x="6387722" y="4506805"/>
            <a:ext cx="1693891" cy="377020"/>
            <a:chOff x="559452" y="4382999"/>
            <a:chExt cx="1693891" cy="377020"/>
          </a:xfrm>
        </p:grpSpPr>
        <p:pic>
          <p:nvPicPr>
            <p:cNvPr id="27" name="Image 1" descr="preencoded.png">
              <a:extLst>
                <a:ext uri="{FF2B5EF4-FFF2-40B4-BE49-F238E27FC236}">
                  <a16:creationId xmlns:a16="http://schemas.microsoft.com/office/drawing/2014/main" id="{D3390DBA-BF40-7180-A0B6-5C0F5246B40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9452" y="4382999"/>
              <a:ext cx="1693891" cy="377020"/>
            </a:xfrm>
            <a:prstGeom prst="rect">
              <a:avLst/>
            </a:prstGeom>
          </p:spPr>
        </p:pic>
        <p:sp>
          <p:nvSpPr>
            <p:cNvPr id="28" name="Text 3">
              <a:extLst>
                <a:ext uri="{FF2B5EF4-FFF2-40B4-BE49-F238E27FC236}">
                  <a16:creationId xmlns:a16="http://schemas.microsoft.com/office/drawing/2014/main" id="{B3CEF509-7443-66C9-396A-CEAE7ADCCD49}"/>
                </a:ext>
              </a:extLst>
            </p:cNvPr>
            <p:cNvSpPr/>
            <p:nvPr/>
          </p:nvSpPr>
          <p:spPr>
            <a:xfrm>
              <a:off x="703865" y="4487793"/>
              <a:ext cx="1339751" cy="167432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ko-KR" altLang="en-US" sz="1050" b="1" dirty="0">
                  <a:solidFill>
                    <a:srgbClr val="384653"/>
                  </a:solidFill>
                  <a:latin typeface="Trebuchet MS" pitchFamily="34" charset="0"/>
                </a:rPr>
                <a:t>연습모드 선택 시 흐름도</a:t>
              </a:r>
              <a:endParaRPr lang="ko-KR" sz="1050" dirty="0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43550" y="0"/>
            <a:ext cx="3600450" cy="5143500"/>
          </a:xfrm>
          <a:prstGeom prst="rect">
            <a:avLst/>
          </a:prstGeom>
          <a:solidFill>
            <a:srgbClr val="D4E9F7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6296" y="585415"/>
            <a:ext cx="2648396" cy="397259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73943" y="599703"/>
            <a:ext cx="3575224" cy="3897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ko-KR" altLang="en-US" sz="2450" b="1" dirty="0">
                <a:solidFill>
                  <a:srgbClr val="2E3C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6. 그래픽 및 리소스 구성</a:t>
            </a:r>
            <a:endParaRPr lang="ko-KR" sz="245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73943" y="1167110"/>
            <a:ext cx="296168" cy="29616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73943" y="1611362"/>
            <a:ext cx="1558975" cy="1948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ko-KR" altLang="en-US" sz="1200" b="1" dirty="0">
                <a:solidFill>
                  <a:srgbClr val="3846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UI 구성</a:t>
            </a:r>
            <a:endParaRPr lang="ko-KR" sz="1200" dirty="0"/>
          </a:p>
        </p:txBody>
      </p:sp>
      <p:sp>
        <p:nvSpPr>
          <p:cNvPr id="7" name="Text 3"/>
          <p:cNvSpPr/>
          <p:nvPr/>
        </p:nvSpPr>
        <p:spPr>
          <a:xfrm>
            <a:off x="473943" y="1877244"/>
            <a:ext cx="4767114" cy="1942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ko-KR" altLang="en-US" sz="900" dirty="0">
                <a:solidFill>
                  <a:srgbClr val="38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텍스트 기반 콘솔 UI, ASCII 아트 로고(</a:t>
            </a:r>
            <a:r>
              <a:rPr lang="ko-KR" altLang="en-US" sz="900" dirty="0">
                <a:solidFill>
                  <a:srgbClr val="38465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ProjectLogo.txt</a:t>
            </a:r>
            <a:r>
              <a:rPr lang="ko-KR" altLang="en-US" sz="900" dirty="0">
                <a:solidFill>
                  <a:srgbClr val="38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외부 파일로 관리)</a:t>
            </a:r>
            <a:endParaRPr lang="ko-KR" sz="9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73943" y="2308473"/>
            <a:ext cx="296168" cy="29616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473943" y="2752725"/>
            <a:ext cx="1558975" cy="1948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ko-KR" altLang="en-US" sz="1200" b="1" dirty="0">
                <a:solidFill>
                  <a:srgbClr val="3846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화면 정렬</a:t>
            </a:r>
            <a:endParaRPr lang="ko-KR" sz="1200" dirty="0"/>
          </a:p>
        </p:txBody>
      </p:sp>
      <p:sp>
        <p:nvSpPr>
          <p:cNvPr id="10" name="Text 5"/>
          <p:cNvSpPr/>
          <p:nvPr/>
        </p:nvSpPr>
        <p:spPr>
          <a:xfrm>
            <a:off x="473943" y="3018606"/>
            <a:ext cx="4767114" cy="1942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ko-KR" altLang="en-US" sz="900" dirty="0">
                <a:solidFill>
                  <a:srgbClr val="38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한글 2바이트를 고려한 </a:t>
            </a:r>
            <a:r>
              <a:rPr lang="ko-KR" altLang="en-US" sz="900" dirty="0">
                <a:solidFill>
                  <a:srgbClr val="38465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GetVisualLength()</a:t>
            </a:r>
            <a:r>
              <a:rPr lang="ko-KR" altLang="en-US" sz="900" dirty="0">
                <a:solidFill>
                  <a:srgbClr val="38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함수로 시각적 너비 계산 및 중앙 정렬 적용</a:t>
            </a:r>
            <a:endParaRPr lang="ko-KR" sz="90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3943" y="3449836"/>
            <a:ext cx="296168" cy="296168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473943" y="3894088"/>
            <a:ext cx="1558975" cy="1948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ko-KR" altLang="en-US" sz="1200" b="1" dirty="0">
                <a:solidFill>
                  <a:srgbClr val="3846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화면 전환</a:t>
            </a:r>
            <a:endParaRPr lang="ko-KR" sz="1200" dirty="0"/>
          </a:p>
        </p:txBody>
      </p:sp>
      <p:sp>
        <p:nvSpPr>
          <p:cNvPr id="13" name="Text 7"/>
          <p:cNvSpPr/>
          <p:nvPr/>
        </p:nvSpPr>
        <p:spPr>
          <a:xfrm>
            <a:off x="473943" y="4159969"/>
            <a:ext cx="4767114" cy="3838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ko-KR" altLang="en-US" sz="900" dirty="0">
                <a:solidFill>
                  <a:srgbClr val="38465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screenClear()</a:t>
            </a:r>
            <a:r>
              <a:rPr lang="ko-KR" altLang="en-US" sz="900" dirty="0">
                <a:solidFill>
                  <a:srgbClr val="38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함수 내 ANSI 이스케이프 코드(</a:t>
            </a:r>
            <a:r>
              <a:rPr lang="ko-KR" altLang="en-US" sz="900" dirty="0">
                <a:solidFill>
                  <a:srgbClr val="384653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\033[2J\033[H</a:t>
            </a:r>
            <a:r>
              <a:rPr lang="ko-KR" altLang="en-US" sz="900" dirty="0">
                <a:solidFill>
                  <a:srgbClr val="38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)를 사용하여 화면을 지우고 커서를 초기화</a:t>
            </a:r>
            <a:endParaRPr lang="ko-KR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3943" y="376312"/>
            <a:ext cx="3575224" cy="3897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ko-KR" altLang="en-US" sz="2450" b="1" dirty="0">
                <a:solidFill>
                  <a:srgbClr val="2E3C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7. 현재까지의 결과물</a:t>
            </a:r>
            <a:endParaRPr lang="ko-KR" sz="2450" dirty="0"/>
          </a:p>
        </p:txBody>
      </p:sp>
      <p:sp>
        <p:nvSpPr>
          <p:cNvPr id="3" name="Shape 1"/>
          <p:cNvSpPr/>
          <p:nvPr/>
        </p:nvSpPr>
        <p:spPr>
          <a:xfrm>
            <a:off x="473943" y="1002953"/>
            <a:ext cx="4038823" cy="1175742"/>
          </a:xfrm>
          <a:prstGeom prst="roundRect">
            <a:avLst>
              <a:gd name="adj" fmla="val 15116"/>
            </a:avLst>
          </a:prstGeom>
          <a:solidFill>
            <a:srgbClr val="D4E9F7"/>
          </a:solidFill>
          <a:ln w="4763">
            <a:solidFill>
              <a:srgbClr val="BACF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173" y="1126182"/>
            <a:ext cx="355402" cy="355402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879" y="1223888"/>
            <a:ext cx="159916" cy="15991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97173" y="1600051"/>
            <a:ext cx="1558975" cy="1948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ko-KR" altLang="en-US" sz="1200" b="1" dirty="0">
                <a:solidFill>
                  <a:srgbClr val="3846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메인 메뉴 UI</a:t>
            </a:r>
            <a:endParaRPr lang="ko-KR" sz="1200" dirty="0"/>
          </a:p>
        </p:txBody>
      </p:sp>
      <p:sp>
        <p:nvSpPr>
          <p:cNvPr id="7" name="Text 3"/>
          <p:cNvSpPr/>
          <p:nvPr/>
        </p:nvSpPr>
        <p:spPr>
          <a:xfrm>
            <a:off x="597173" y="1865933"/>
            <a:ext cx="3792364" cy="1895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ko-KR" altLang="en-US" sz="900" dirty="0">
                <a:solidFill>
                  <a:srgbClr val="38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ASCII 로고 + 5가지 기능 선택 구현 완료</a:t>
            </a:r>
            <a:endParaRPr lang="ko-KR" sz="900" dirty="0"/>
          </a:p>
        </p:txBody>
      </p:sp>
      <p:sp>
        <p:nvSpPr>
          <p:cNvPr id="8" name="Shape 4"/>
          <p:cNvSpPr/>
          <p:nvPr/>
        </p:nvSpPr>
        <p:spPr>
          <a:xfrm>
            <a:off x="4631234" y="1002953"/>
            <a:ext cx="4038823" cy="1175742"/>
          </a:xfrm>
          <a:prstGeom prst="roundRect">
            <a:avLst>
              <a:gd name="adj" fmla="val 15116"/>
            </a:avLst>
          </a:prstGeom>
          <a:solidFill>
            <a:srgbClr val="D4E9F7"/>
          </a:solidFill>
          <a:ln w="4763">
            <a:solidFill>
              <a:srgbClr val="BACF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463" y="1126182"/>
            <a:ext cx="355402" cy="355402"/>
          </a:xfrm>
          <a:prstGeom prst="rect">
            <a:avLst/>
          </a:prstGeom>
        </p:spPr>
      </p:pic>
      <p:pic>
        <p:nvPicPr>
          <p:cNvPr id="10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52169" y="1223888"/>
            <a:ext cx="159916" cy="159916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4754463" y="1600051"/>
            <a:ext cx="1558975" cy="1948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ko-KR" altLang="en-US" sz="1200" b="1" dirty="0">
                <a:solidFill>
                  <a:srgbClr val="3846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연습/시험 모드</a:t>
            </a:r>
            <a:endParaRPr lang="ko-KR" sz="1200" dirty="0"/>
          </a:p>
        </p:txBody>
      </p:sp>
      <p:sp>
        <p:nvSpPr>
          <p:cNvPr id="12" name="Text 6"/>
          <p:cNvSpPr/>
          <p:nvPr/>
        </p:nvSpPr>
        <p:spPr>
          <a:xfrm>
            <a:off x="4754463" y="1865933"/>
            <a:ext cx="3792364" cy="1895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ko-KR" altLang="en-US" sz="900" dirty="0">
                <a:solidFill>
                  <a:srgbClr val="38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종료 후 오답 복습 기능 포함 구현 완료</a:t>
            </a:r>
            <a:endParaRPr lang="ko-KR" sz="900" dirty="0"/>
          </a:p>
        </p:txBody>
      </p:sp>
      <p:sp>
        <p:nvSpPr>
          <p:cNvPr id="13" name="Shape 7"/>
          <p:cNvSpPr/>
          <p:nvPr/>
        </p:nvSpPr>
        <p:spPr>
          <a:xfrm>
            <a:off x="473943" y="2297162"/>
            <a:ext cx="4038823" cy="1175742"/>
          </a:xfrm>
          <a:prstGeom prst="roundRect">
            <a:avLst>
              <a:gd name="adj" fmla="val 15116"/>
            </a:avLst>
          </a:prstGeom>
          <a:solidFill>
            <a:srgbClr val="D4E9F7"/>
          </a:solidFill>
          <a:ln w="4763">
            <a:solidFill>
              <a:srgbClr val="BACF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7173" y="2420392"/>
            <a:ext cx="355402" cy="355402"/>
          </a:xfrm>
          <a:prstGeom prst="rect">
            <a:avLst/>
          </a:prstGeom>
        </p:spPr>
      </p:pic>
      <p:pic>
        <p:nvPicPr>
          <p:cNvPr id="15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94879" y="2518097"/>
            <a:ext cx="159916" cy="159916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597173" y="2894261"/>
            <a:ext cx="1558975" cy="1948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ko-KR" altLang="en-US" sz="1200" b="1" dirty="0">
                <a:solidFill>
                  <a:srgbClr val="3846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몬스터 처치 모드</a:t>
            </a:r>
            <a:endParaRPr lang="ko-KR" sz="1200" dirty="0"/>
          </a:p>
        </p:txBody>
      </p:sp>
      <p:sp>
        <p:nvSpPr>
          <p:cNvPr id="17" name="Text 9"/>
          <p:cNvSpPr/>
          <p:nvPr/>
        </p:nvSpPr>
        <p:spPr>
          <a:xfrm>
            <a:off x="597173" y="3160142"/>
            <a:ext cx="3792364" cy="1895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ko-KR" altLang="en-US" sz="900" dirty="0">
                <a:solidFill>
                  <a:srgbClr val="38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보스 HP 100, 120초 제한, 콤보 시스템 구현 완료</a:t>
            </a:r>
            <a:endParaRPr lang="ko-KR" sz="900" dirty="0"/>
          </a:p>
        </p:txBody>
      </p:sp>
      <p:sp>
        <p:nvSpPr>
          <p:cNvPr id="18" name="Shape 10"/>
          <p:cNvSpPr/>
          <p:nvPr/>
        </p:nvSpPr>
        <p:spPr>
          <a:xfrm>
            <a:off x="4631234" y="2297162"/>
            <a:ext cx="4038823" cy="1175742"/>
          </a:xfrm>
          <a:prstGeom prst="roundRect">
            <a:avLst>
              <a:gd name="adj" fmla="val 15116"/>
            </a:avLst>
          </a:prstGeom>
          <a:solidFill>
            <a:srgbClr val="D4E9F7"/>
          </a:solidFill>
          <a:ln w="4763">
            <a:solidFill>
              <a:srgbClr val="BACF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9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54463" y="2420392"/>
            <a:ext cx="355402" cy="355402"/>
          </a:xfrm>
          <a:prstGeom prst="rect">
            <a:avLst/>
          </a:prstGeom>
        </p:spPr>
      </p:pic>
      <p:pic>
        <p:nvPicPr>
          <p:cNvPr id="20" name="Image 7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852169" y="2518097"/>
            <a:ext cx="159916" cy="159916"/>
          </a:xfrm>
          <a:prstGeom prst="rect">
            <a:avLst/>
          </a:prstGeom>
        </p:spPr>
      </p:pic>
      <p:sp>
        <p:nvSpPr>
          <p:cNvPr id="21" name="Text 11"/>
          <p:cNvSpPr/>
          <p:nvPr/>
        </p:nvSpPr>
        <p:spPr>
          <a:xfrm>
            <a:off x="4754463" y="2894261"/>
            <a:ext cx="1558975" cy="1948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ko-KR" altLang="en-US" sz="1200" b="1" dirty="0">
                <a:solidFill>
                  <a:srgbClr val="3846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무한의 탑 모드</a:t>
            </a:r>
            <a:endParaRPr lang="ko-KR" sz="1200" dirty="0"/>
          </a:p>
        </p:txBody>
      </p:sp>
      <p:sp>
        <p:nvSpPr>
          <p:cNvPr id="22" name="Text 12"/>
          <p:cNvSpPr/>
          <p:nvPr/>
        </p:nvSpPr>
        <p:spPr>
          <a:xfrm>
            <a:off x="4754463" y="3160142"/>
            <a:ext cx="3792364" cy="1895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ko-KR" altLang="en-US" sz="900" dirty="0">
                <a:solidFill>
                  <a:srgbClr val="38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목숨 3개, 10층 보스전 구현 완료</a:t>
            </a:r>
            <a:endParaRPr lang="ko-KR" sz="900" dirty="0"/>
          </a:p>
        </p:txBody>
      </p:sp>
      <p:sp>
        <p:nvSpPr>
          <p:cNvPr id="23" name="Shape 13"/>
          <p:cNvSpPr/>
          <p:nvPr/>
        </p:nvSpPr>
        <p:spPr>
          <a:xfrm>
            <a:off x="473943" y="3591371"/>
            <a:ext cx="4038823" cy="1175742"/>
          </a:xfrm>
          <a:prstGeom prst="roundRect">
            <a:avLst>
              <a:gd name="adj" fmla="val 15116"/>
            </a:avLst>
          </a:prstGeom>
          <a:solidFill>
            <a:srgbClr val="D4E9F7"/>
          </a:solidFill>
          <a:ln w="4763">
            <a:solidFill>
              <a:srgbClr val="BACF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7173" y="3714601"/>
            <a:ext cx="355402" cy="355402"/>
          </a:xfrm>
          <a:prstGeom prst="rect">
            <a:avLst/>
          </a:prstGeom>
        </p:spPr>
      </p:pic>
      <p:pic>
        <p:nvPicPr>
          <p:cNvPr id="25" name="Image 9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94879" y="3812307"/>
            <a:ext cx="159916" cy="159916"/>
          </a:xfrm>
          <a:prstGeom prst="rect">
            <a:avLst/>
          </a:prstGeom>
        </p:spPr>
      </p:pic>
      <p:sp>
        <p:nvSpPr>
          <p:cNvPr id="26" name="Text 14"/>
          <p:cNvSpPr/>
          <p:nvPr/>
        </p:nvSpPr>
        <p:spPr>
          <a:xfrm>
            <a:off x="597173" y="4188470"/>
            <a:ext cx="1558975" cy="1948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ko-KR" altLang="en-US" sz="1200" b="1" dirty="0">
                <a:solidFill>
                  <a:srgbClr val="3846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문제 검색 기능</a:t>
            </a:r>
            <a:endParaRPr lang="ko-KR" sz="1200" dirty="0"/>
          </a:p>
        </p:txBody>
      </p:sp>
      <p:sp>
        <p:nvSpPr>
          <p:cNvPr id="27" name="Text 15"/>
          <p:cNvSpPr/>
          <p:nvPr/>
        </p:nvSpPr>
        <p:spPr>
          <a:xfrm>
            <a:off x="597173" y="4454351"/>
            <a:ext cx="3792364" cy="1895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ko-KR" altLang="en-US" sz="900" dirty="0">
                <a:solidFill>
                  <a:srgbClr val="38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키워드 검색, 번호/레벨 정렬 구현 완료</a:t>
            </a:r>
            <a:endParaRPr lang="ko-KR" sz="900" dirty="0"/>
          </a:p>
        </p:txBody>
      </p:sp>
      <p:sp>
        <p:nvSpPr>
          <p:cNvPr id="28" name="Shape 16"/>
          <p:cNvSpPr/>
          <p:nvPr/>
        </p:nvSpPr>
        <p:spPr>
          <a:xfrm>
            <a:off x="4631234" y="3591371"/>
            <a:ext cx="4038823" cy="1175742"/>
          </a:xfrm>
          <a:prstGeom prst="roundRect">
            <a:avLst>
              <a:gd name="adj" fmla="val 15116"/>
            </a:avLst>
          </a:prstGeom>
          <a:solidFill>
            <a:srgbClr val="D4E9F7"/>
          </a:solidFill>
          <a:ln w="4763">
            <a:solidFill>
              <a:srgbClr val="BACF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754463" y="3714601"/>
            <a:ext cx="355402" cy="355402"/>
          </a:xfrm>
          <a:prstGeom prst="rect">
            <a:avLst/>
          </a:prstGeom>
        </p:spPr>
      </p:pic>
      <p:pic>
        <p:nvPicPr>
          <p:cNvPr id="30" name="Image 1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852169" y="3812307"/>
            <a:ext cx="159916" cy="159916"/>
          </a:xfrm>
          <a:prstGeom prst="rect">
            <a:avLst/>
          </a:prstGeom>
        </p:spPr>
      </p:pic>
      <p:sp>
        <p:nvSpPr>
          <p:cNvPr id="31" name="Text 17"/>
          <p:cNvSpPr/>
          <p:nvPr/>
        </p:nvSpPr>
        <p:spPr>
          <a:xfrm>
            <a:off x="4754463" y="4188470"/>
            <a:ext cx="1558975" cy="1948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ko-KR" altLang="en-US" sz="1200" b="1" dirty="0">
                <a:solidFill>
                  <a:srgbClr val="3846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문제 제작 및 과목 등록</a:t>
            </a:r>
            <a:endParaRPr lang="ko-KR" sz="1200" dirty="0"/>
          </a:p>
        </p:txBody>
      </p:sp>
      <p:sp>
        <p:nvSpPr>
          <p:cNvPr id="32" name="Text 18"/>
          <p:cNvSpPr/>
          <p:nvPr/>
        </p:nvSpPr>
        <p:spPr>
          <a:xfrm>
            <a:off x="4754463" y="4454351"/>
            <a:ext cx="3792364" cy="1895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ko-KR" altLang="en-US" sz="900" dirty="0">
                <a:solidFill>
                  <a:srgbClr val="38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저장, 새 과목 등록 기능 구현 완료</a:t>
            </a:r>
            <a:endParaRPr lang="ko-KR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00450" cy="5143500"/>
          </a:xfrm>
          <a:prstGeom prst="rect">
            <a:avLst/>
          </a:prstGeom>
          <a:solidFill>
            <a:srgbClr val="D4E9F7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34" y="585415"/>
            <a:ext cx="2648396" cy="397259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902943" y="789608"/>
            <a:ext cx="3575224" cy="3897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ko-KR" altLang="en-US" sz="2450" b="1" dirty="0">
                <a:solidFill>
                  <a:srgbClr val="2E3C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8. 프로젝트 중 문제점</a:t>
            </a:r>
            <a:endParaRPr lang="ko-KR" sz="245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88656" y="1357015"/>
            <a:ext cx="4781401" cy="919981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078560" y="1489770"/>
            <a:ext cx="1558975" cy="2043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ko-KR" altLang="en-US" sz="1200" b="1" dirty="0">
                <a:solidFill>
                  <a:srgbClr val="0000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🔀</a:t>
            </a:r>
            <a:r>
              <a:rPr lang="ko-KR" altLang="en-US" sz="1200" b="1" dirty="0">
                <a:solidFill>
                  <a:srgbClr val="3846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GitHub 브랜치 운영</a:t>
            </a:r>
            <a:endParaRPr lang="ko-KR" sz="1200" dirty="0"/>
          </a:p>
        </p:txBody>
      </p:sp>
      <p:sp>
        <p:nvSpPr>
          <p:cNvPr id="7" name="Text 3"/>
          <p:cNvSpPr/>
          <p:nvPr/>
        </p:nvSpPr>
        <p:spPr>
          <a:xfrm>
            <a:off x="4078560" y="1765176"/>
            <a:ext cx="4458742" cy="3790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ko-KR" altLang="en-US" sz="900" dirty="0">
                <a:solidFill>
                  <a:srgbClr val="38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사용에 익숙치 않아 branch 사용 시 일부 어려움 발생. 팀원 간 코드 병합 과정에서 충돌 해결에 시간이 소요됨</a:t>
            </a:r>
            <a:endParaRPr lang="ko-KR" sz="9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88656" y="2395463"/>
            <a:ext cx="4781401" cy="919981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4078560" y="2528218"/>
            <a:ext cx="1558975" cy="2043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ko-KR" altLang="en-US" sz="1200" b="1" dirty="0">
                <a:solidFill>
                  <a:srgbClr val="0000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🔤</a:t>
            </a:r>
            <a:r>
              <a:rPr lang="ko-KR" altLang="en-US" sz="1200" b="1" dirty="0">
                <a:solidFill>
                  <a:srgbClr val="3846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인코딩 호환성 문제</a:t>
            </a:r>
            <a:endParaRPr lang="ko-KR" sz="1200" dirty="0"/>
          </a:p>
        </p:txBody>
      </p:sp>
      <p:sp>
        <p:nvSpPr>
          <p:cNvPr id="10" name="Text 5"/>
          <p:cNvSpPr/>
          <p:nvPr/>
        </p:nvSpPr>
        <p:spPr>
          <a:xfrm>
            <a:off x="4078560" y="2803624"/>
            <a:ext cx="4458742" cy="3790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ko-KR" altLang="en-US" sz="900" dirty="0">
                <a:solidFill>
                  <a:srgbClr val="38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VS, GitHub Desktop, 콘솔의 인코딩 방식이 서로 달라 세 곳 동시에 한글을 보기가 어려움 → 이를 감안하여 VS와 콘솔에서만 한글을 사용하기로 정함</a:t>
            </a:r>
            <a:endParaRPr lang="ko-KR" sz="90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88656" y="3433911"/>
            <a:ext cx="4781401" cy="919981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4078560" y="3566666"/>
            <a:ext cx="1558975" cy="2043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ko-KR" altLang="en-US" sz="1200" b="1" dirty="0">
                <a:solidFill>
                  <a:srgbClr val="0000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📄</a:t>
            </a:r>
            <a:r>
              <a:rPr lang="ko-KR" altLang="en-US" sz="1200" b="1" dirty="0">
                <a:solidFill>
                  <a:srgbClr val="3846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CSV 파싱 복잡성</a:t>
            </a:r>
            <a:endParaRPr lang="ko-KR" sz="1200" dirty="0"/>
          </a:p>
        </p:txBody>
      </p:sp>
      <p:sp>
        <p:nvSpPr>
          <p:cNvPr id="13" name="Text 7"/>
          <p:cNvSpPr/>
          <p:nvPr/>
        </p:nvSpPr>
        <p:spPr>
          <a:xfrm>
            <a:off x="4078560" y="3842072"/>
            <a:ext cx="4458742" cy="3790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ko-KR" altLang="en-US" sz="900" dirty="0">
                <a:solidFill>
                  <a:srgbClr val="38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파싱을 처음 시도하여 어려웠고, 설명란을 보기 좋게 출력하기 위하여 멀티라인 파싱을 구현해야 하여 복잡하였음</a:t>
            </a:r>
            <a:endParaRPr lang="ko-KR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3943" y="1286991"/>
            <a:ext cx="3575224" cy="3897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ko-KR" altLang="en-US" sz="2450" b="1" dirty="0">
                <a:solidFill>
                  <a:srgbClr val="2E3C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참고 자료</a:t>
            </a:r>
            <a:endParaRPr lang="ko-KR" sz="2450" dirty="0"/>
          </a:p>
        </p:txBody>
      </p:sp>
      <p:sp>
        <p:nvSpPr>
          <p:cNvPr id="3" name="Shape 1"/>
          <p:cNvSpPr/>
          <p:nvPr/>
        </p:nvSpPr>
        <p:spPr>
          <a:xfrm>
            <a:off x="473943" y="1913632"/>
            <a:ext cx="266551" cy="266551"/>
          </a:xfrm>
          <a:prstGeom prst="roundRect">
            <a:avLst>
              <a:gd name="adj" fmla="val 66678"/>
            </a:avLst>
          </a:prstGeom>
          <a:solidFill>
            <a:srgbClr val="D4E9F7"/>
          </a:solidFill>
          <a:ln w="4763">
            <a:solidFill>
              <a:srgbClr val="BACF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858962" y="1954337"/>
            <a:ext cx="1558975" cy="1948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ko-KR" altLang="en-US" sz="1200" b="1" dirty="0">
                <a:solidFill>
                  <a:srgbClr val="3846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도타비 문제은행</a:t>
            </a:r>
            <a:endParaRPr lang="ko-KR" sz="1200" dirty="0"/>
          </a:p>
        </p:txBody>
      </p:sp>
      <p:sp>
        <p:nvSpPr>
          <p:cNvPr id="5" name="Text 3"/>
          <p:cNvSpPr/>
          <p:nvPr/>
        </p:nvSpPr>
        <p:spPr>
          <a:xfrm>
            <a:off x="858962" y="2220218"/>
            <a:ext cx="3638996" cy="3790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ko-KR" altLang="en-US" sz="900" dirty="0">
                <a:solidFill>
                  <a:srgbClr val="38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국가기술자격 기출문제, CBT — </a:t>
            </a:r>
            <a:r>
              <a:rPr lang="ko-KR" altLang="en-US" sz="900" u="sng" dirty="0">
                <a:solidFill>
                  <a:srgbClr val="359DD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도타비 문제은행 :: 국가기술자격 기출문제, CBT</a:t>
            </a:r>
            <a:endParaRPr lang="ko-KR" sz="900" dirty="0"/>
          </a:p>
        </p:txBody>
      </p:sp>
      <p:sp>
        <p:nvSpPr>
          <p:cNvPr id="6" name="Shape 4"/>
          <p:cNvSpPr/>
          <p:nvPr/>
        </p:nvSpPr>
        <p:spPr>
          <a:xfrm>
            <a:off x="4646042" y="1913632"/>
            <a:ext cx="266551" cy="266551"/>
          </a:xfrm>
          <a:prstGeom prst="roundRect">
            <a:avLst>
              <a:gd name="adj" fmla="val 66678"/>
            </a:avLst>
          </a:prstGeom>
          <a:solidFill>
            <a:srgbClr val="D4E9F7"/>
          </a:solidFill>
          <a:ln w="4763">
            <a:solidFill>
              <a:srgbClr val="BACF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031060" y="1954337"/>
            <a:ext cx="1558975" cy="1948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ko-KR" altLang="en-US" sz="1200" b="1" dirty="0">
                <a:solidFill>
                  <a:srgbClr val="3846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한컴 타자연습</a:t>
            </a:r>
            <a:endParaRPr lang="ko-KR" sz="1200" dirty="0"/>
          </a:p>
        </p:txBody>
      </p:sp>
      <p:sp>
        <p:nvSpPr>
          <p:cNvPr id="8" name="Text 6"/>
          <p:cNvSpPr/>
          <p:nvPr/>
        </p:nvSpPr>
        <p:spPr>
          <a:xfrm>
            <a:off x="5031060" y="2220218"/>
            <a:ext cx="3638996" cy="3790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ko-KR" altLang="en-US" sz="900" dirty="0">
                <a:solidFill>
                  <a:srgbClr val="38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게임 | 한컴타자 – 한글과컴퓨터의 타자 연습 — </a:t>
            </a:r>
            <a:r>
              <a:rPr lang="ko-KR" altLang="en-US" sz="900" u="sng" dirty="0">
                <a:solidFill>
                  <a:srgbClr val="359DD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게임 | 한컴타자 – 한글과컴퓨터의 타자 연습</a:t>
            </a:r>
            <a:endParaRPr lang="ko-KR" sz="900" dirty="0"/>
          </a:p>
        </p:txBody>
      </p:sp>
      <p:sp>
        <p:nvSpPr>
          <p:cNvPr id="9" name="Shape 7"/>
          <p:cNvSpPr/>
          <p:nvPr/>
        </p:nvSpPr>
        <p:spPr>
          <a:xfrm>
            <a:off x="473943" y="2836218"/>
            <a:ext cx="266551" cy="266551"/>
          </a:xfrm>
          <a:prstGeom prst="roundRect">
            <a:avLst>
              <a:gd name="adj" fmla="val 66678"/>
            </a:avLst>
          </a:prstGeom>
          <a:solidFill>
            <a:srgbClr val="D4E9F7"/>
          </a:solidFill>
          <a:ln w="4763">
            <a:solidFill>
              <a:srgbClr val="BACF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858962" y="2876922"/>
            <a:ext cx="1558975" cy="1948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ko-KR" altLang="en-US" sz="1200" b="1" dirty="0">
                <a:solidFill>
                  <a:srgbClr val="3846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무한의 계단</a:t>
            </a:r>
            <a:endParaRPr lang="ko-KR" sz="1200" dirty="0"/>
          </a:p>
        </p:txBody>
      </p:sp>
      <p:sp>
        <p:nvSpPr>
          <p:cNvPr id="11" name="Text 9"/>
          <p:cNvSpPr/>
          <p:nvPr/>
        </p:nvSpPr>
        <p:spPr>
          <a:xfrm>
            <a:off x="858962" y="3142804"/>
            <a:ext cx="3638996" cy="1895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ko-KR" altLang="en-US" sz="900" dirty="0">
                <a:solidFill>
                  <a:srgbClr val="38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Play 앱 — </a:t>
            </a:r>
            <a:r>
              <a:rPr lang="ko-KR" altLang="en-US" sz="900" u="sng" dirty="0">
                <a:solidFill>
                  <a:srgbClr val="359DD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무한의 계단 - Google Play 앱</a:t>
            </a:r>
            <a:endParaRPr lang="ko-KR" sz="900" dirty="0"/>
          </a:p>
        </p:txBody>
      </p:sp>
      <p:sp>
        <p:nvSpPr>
          <p:cNvPr id="12" name="Shape 10"/>
          <p:cNvSpPr/>
          <p:nvPr/>
        </p:nvSpPr>
        <p:spPr>
          <a:xfrm>
            <a:off x="4646042" y="2836218"/>
            <a:ext cx="266551" cy="266551"/>
          </a:xfrm>
          <a:prstGeom prst="roundRect">
            <a:avLst>
              <a:gd name="adj" fmla="val 66678"/>
            </a:avLst>
          </a:prstGeom>
          <a:solidFill>
            <a:srgbClr val="D4E9F7"/>
          </a:solidFill>
          <a:ln w="4763">
            <a:solidFill>
              <a:srgbClr val="BACF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5031060" y="2876922"/>
            <a:ext cx="1558975" cy="1948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ko-KR" altLang="en-US" sz="1200" b="1" dirty="0">
                <a:solidFill>
                  <a:srgbClr val="3846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학과 수업 자료</a:t>
            </a:r>
            <a:endParaRPr lang="ko-KR" sz="1200" dirty="0"/>
          </a:p>
        </p:txBody>
      </p:sp>
      <p:sp>
        <p:nvSpPr>
          <p:cNvPr id="14" name="Text 12"/>
          <p:cNvSpPr/>
          <p:nvPr/>
        </p:nvSpPr>
        <p:spPr>
          <a:xfrm>
            <a:off x="5031060" y="3142804"/>
            <a:ext cx="3638996" cy="1895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ko-KR" altLang="en-US" sz="900" dirty="0">
                <a:solidFill>
                  <a:srgbClr val="38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학과 수업 내 공유받은 수업 자료</a:t>
            </a:r>
            <a:endParaRPr lang="ko-KR" sz="900" dirty="0"/>
          </a:p>
        </p:txBody>
      </p:sp>
      <p:sp>
        <p:nvSpPr>
          <p:cNvPr id="15" name="Shape 13"/>
          <p:cNvSpPr/>
          <p:nvPr/>
        </p:nvSpPr>
        <p:spPr>
          <a:xfrm>
            <a:off x="473943" y="3495229"/>
            <a:ext cx="8196114" cy="8855"/>
          </a:xfrm>
          <a:prstGeom prst="rect">
            <a:avLst/>
          </a:prstGeom>
          <a:solidFill>
            <a:srgbClr val="384653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73943" y="3666976"/>
            <a:ext cx="8653314" cy="1895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ko-KR" altLang="en-US" sz="900" dirty="0">
                <a:solidFill>
                  <a:srgbClr val="384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팀 IceTea — 객체지향프로그래밍 팀프로젝트 최종보고서</a:t>
            </a:r>
            <a:endParaRPr lang="ko-KR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43550" y="0"/>
            <a:ext cx="3600450" cy="5143500"/>
          </a:xfrm>
          <a:prstGeom prst="rect">
            <a:avLst/>
          </a:prstGeom>
          <a:solidFill>
            <a:srgbClr val="D4E9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1700000"/>
            <a:ext cx="4800000" cy="800000"/>
          </a:xfrm>
          <a:prstGeom prst="rect">
            <a:avLst/>
          </a:prstGeom>
          <a:noFill/>
          <a:ln/>
        </p:spPr>
        <p:txBody>
          <a:bodyPr lIns="0" tIns="0" rIns="0" bIns="0" rtlCol="0" anchor="ctr"/>
          <a:lstStyle/>
          <a:p>
            <a:pPr marL="0" indent="0" algn="l">
              <a:lnSpc>
                <a:spcPct val="104000"/>
              </a:lnSpc>
              <a:buNone/>
            </a:pPr>
            <a:r>
              <a:rPr lang="ko-KR" altLang="en-US" sz="5400" b="1" dirty="0">
                <a:solidFill>
                  <a:srgbClr val="2E3C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감사합니다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2580000"/>
            <a:ext cx="4600000" cy="2800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ko-KR" altLang="en-US" sz="1600" dirty="0">
                <a:solidFill>
                  <a:srgbClr val="75B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팀 IceTea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923</Words>
  <Application>Microsoft Office PowerPoint</Application>
  <PresentationFormat>화면 슬라이드 쇼(16:9)</PresentationFormat>
  <Paragraphs>140</Paragraphs>
  <Slides>14</Slides>
  <Notes>13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9" baseType="lpstr">
      <vt:lpstr>Consolas</vt:lpstr>
      <vt:lpstr>Arial</vt:lpstr>
      <vt:lpstr>Trebuchet MS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김찬호</cp:lastModifiedBy>
  <cp:revision>2</cp:revision>
  <dcterms:created xsi:type="dcterms:W3CDTF">2026-06-03T16:20:01Z</dcterms:created>
  <dcterms:modified xsi:type="dcterms:W3CDTF">2026-06-04T07:59:33Z</dcterms:modified>
</cp:coreProperties>
</file>