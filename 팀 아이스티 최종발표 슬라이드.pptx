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3"/>
  </p:sldIdLst>
  <p:notesMasterIdLst>
    <p:notesMasterId r:id="rId15"/>
  </p:notesMasterIdLst>
  <p:sldSz cx="9144000" cy="5143500"/>
  <p:notesSz cx="5143500" cy="9144000"/>
  <p:embeddedFontLst>
    <p:embeddedFont>
      <p:font typeface="Trebuchet MS"/>
      <p:regular r:id="rId20"/>
    </p:embeddedFont>
    <p:embeddedFont>
      <p:font typeface="Calibri"/>
      <p:regular r:id="rId21"/>
    </p:embeddedFont>
    <p:embeddedFont>
      <p:font typeface="Montserrat Bol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slideLayout" Target="../slideLayouts/slideLayout12.xml"/><Relationship Id="rId20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hyperlink" Target="https://gunsys.com/q/" TargetMode="External"/><Relationship Id="rId2" Type="http://schemas.openxmlformats.org/officeDocument/2006/relationships/hyperlink" Target="https://www.hancomtaja.com/ko/game" TargetMode="External"/><Relationship Id="rId3" Type="http://schemas.openxmlformats.org/officeDocument/2006/relationships/hyperlink" Target="https://play.google.com/store/apps/details?id=com.nflystudio.InfiniteStaircase&amp;hl=ko" TargetMode="External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6296" y="585415"/>
            <a:ext cx="2648396" cy="3972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1992362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팀 IceTea</a:t>
            </a:r>
            <a:endParaRPr lang="ko-KR" sz="2450" dirty="0"/>
          </a:p>
        </p:txBody>
      </p:sp>
      <p:sp>
        <p:nvSpPr>
          <p:cNvPr id="5" name="Text 2"/>
          <p:cNvSpPr/>
          <p:nvPr/>
        </p:nvSpPr>
        <p:spPr>
          <a:xfrm>
            <a:off x="473943" y="2429396"/>
            <a:ext cx="4915793" cy="311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객체지향프로그래밍 팀프로젝트 최종보고서</a:t>
            </a:r>
            <a:endParaRPr lang="ko-KR" sz="1950" dirty="0"/>
          </a:p>
        </p:txBody>
      </p:sp>
      <p:sp>
        <p:nvSpPr>
          <p:cNvPr id="6" name="Shape 3"/>
          <p:cNvSpPr/>
          <p:nvPr/>
        </p:nvSpPr>
        <p:spPr>
          <a:xfrm>
            <a:off x="473943" y="2923654"/>
            <a:ext cx="517401" cy="222647"/>
          </a:xfrm>
          <a:prstGeom prst="roundRect">
            <a:avLst>
              <a:gd name="adj" fmla="val 63861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545009" y="2959150"/>
            <a:ext cx="832470" cy="15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기반</a:t>
            </a:r>
            <a:endParaRPr lang="ko-KR" sz="700" dirty="0"/>
          </a:p>
        </p:txBody>
      </p:sp>
      <p:sp>
        <p:nvSpPr>
          <p:cNvPr id="8" name="Shape 5"/>
          <p:cNvSpPr/>
          <p:nvPr/>
        </p:nvSpPr>
        <p:spPr>
          <a:xfrm>
            <a:off x="1050578" y="2918892"/>
            <a:ext cx="786557" cy="232172"/>
          </a:xfrm>
          <a:prstGeom prst="roundRect">
            <a:avLst>
              <a:gd name="adj" fmla="val 61241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6406" y="2959150"/>
            <a:ext cx="1092101" cy="15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75B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교육용 문제은행</a:t>
            </a:r>
            <a:endParaRPr lang="ko-KR" sz="700" dirty="0"/>
          </a:p>
        </p:txBody>
      </p:sp>
      <p:sp>
        <p:nvSpPr>
          <p:cNvPr id="10" name="Shape 7"/>
          <p:cNvSpPr/>
          <p:nvPr/>
        </p:nvSpPr>
        <p:spPr>
          <a:xfrm>
            <a:off x="1896368" y="2918892"/>
            <a:ext cx="560561" cy="232172"/>
          </a:xfrm>
          <a:prstGeom prst="roundRect">
            <a:avLst>
              <a:gd name="adj" fmla="val 61241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72196" y="2959150"/>
            <a:ext cx="866105" cy="15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75B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RPG</a:t>
            </a:r>
            <a:endParaRPr lang="ko-KR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34" y="585415"/>
            <a:ext cx="2648396" cy="3972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943" y="1422648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팀 개요</a:t>
            </a:r>
            <a:endParaRPr lang="ko-KR" sz="2450" dirty="0"/>
          </a:p>
        </p:txBody>
      </p:sp>
      <p:sp>
        <p:nvSpPr>
          <p:cNvPr id="5" name="Shape 2"/>
          <p:cNvSpPr/>
          <p:nvPr/>
        </p:nvSpPr>
        <p:spPr>
          <a:xfrm>
            <a:off x="3902943" y="1990055"/>
            <a:ext cx="2324323" cy="900931"/>
          </a:xfrm>
          <a:prstGeom prst="roundRect">
            <a:avLst>
              <a:gd name="adj" fmla="val 1972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26173" y="2113285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팀원 구성</a:t>
            </a:r>
            <a:endParaRPr lang="ko-KR" sz="1200" dirty="0"/>
          </a:p>
        </p:txBody>
      </p:sp>
      <p:sp>
        <p:nvSpPr>
          <p:cNvPr id="7" name="Text 4"/>
          <p:cNvSpPr/>
          <p:nvPr/>
        </p:nvSpPr>
        <p:spPr>
          <a:xfrm>
            <a:off x="4026173" y="2388691"/>
            <a:ext cx="20778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김찬호, 박성현, 이채승, 정승재</a:t>
            </a:r>
            <a:endParaRPr lang="ko-KR" sz="900" dirty="0"/>
          </a:p>
        </p:txBody>
      </p:sp>
      <p:sp>
        <p:nvSpPr>
          <p:cNvPr id="8" name="Shape 5"/>
          <p:cNvSpPr/>
          <p:nvPr/>
        </p:nvSpPr>
        <p:spPr>
          <a:xfrm>
            <a:off x="6345734" y="1990055"/>
            <a:ext cx="2324323" cy="900931"/>
          </a:xfrm>
          <a:prstGeom prst="roundRect">
            <a:avLst>
              <a:gd name="adj" fmla="val 1972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8963" y="2113285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코드 공유</a:t>
            </a:r>
            <a:endParaRPr lang="ko-KR" sz="1200" dirty="0"/>
          </a:p>
        </p:txBody>
      </p:sp>
      <p:sp>
        <p:nvSpPr>
          <p:cNvPr id="10" name="Text 7"/>
          <p:cNvSpPr/>
          <p:nvPr/>
        </p:nvSpPr>
        <p:spPr>
          <a:xfrm>
            <a:off x="6468963" y="2388691"/>
            <a:ext cx="207786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GitHub을 이용하여 코드 및 제작 상황을 공유하고 버전 관리를 수행</a:t>
            </a:r>
            <a:endParaRPr lang="ko-KR" sz="900" dirty="0"/>
          </a:p>
        </p:txBody>
      </p:sp>
      <p:sp>
        <p:nvSpPr>
          <p:cNvPr id="11" name="Shape 8"/>
          <p:cNvSpPr/>
          <p:nvPr/>
        </p:nvSpPr>
        <p:spPr>
          <a:xfrm>
            <a:off x="3902943" y="3009454"/>
            <a:ext cx="4767114" cy="711398"/>
          </a:xfrm>
          <a:prstGeom prst="roundRect">
            <a:avLst>
              <a:gd name="adj" fmla="val 2498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6173" y="3132683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소통 채널</a:t>
            </a:r>
            <a:endParaRPr lang="ko-KR" sz="1200" dirty="0"/>
          </a:p>
        </p:txBody>
      </p:sp>
      <p:sp>
        <p:nvSpPr>
          <p:cNvPr id="13" name="Text 10"/>
          <p:cNvSpPr/>
          <p:nvPr/>
        </p:nvSpPr>
        <p:spPr>
          <a:xfrm>
            <a:off x="4026173" y="3408090"/>
            <a:ext cx="452065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Discord와 카카오톡을 통해 전체적인 진행 상황과 논의를 공유</a:t>
            </a:r>
            <a:endParaRPr lang="ko-K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228651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프로젝트 개요</a:t>
            </a:r>
            <a:endParaRPr lang="ko-KR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855291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게임으로 같이 공부하는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b="1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문제은행 프로그램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388665" y="2178100"/>
            <a:ext cx="4124102" cy="1736750"/>
          </a:xfrm>
          <a:prstGeom prst="roundRect">
            <a:avLst>
              <a:gd name="adj" fmla="val 16374"/>
            </a:avLst>
          </a:prstGeom>
          <a:solidFill>
            <a:srgbClr val="063E5F"/>
          </a:solidFill>
          <a:ln/>
        </p:spPr>
      </p:sp>
      <p:sp>
        <p:nvSpPr>
          <p:cNvPr id="5" name="Text 3"/>
          <p:cNvSpPr/>
          <p:nvPr/>
        </p:nvSpPr>
        <p:spPr>
          <a:xfrm>
            <a:off x="507132" y="2296567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콘셉트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507132" y="2619375"/>
            <a:ext cx="3887167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요소를 접목한 C++ 기반 오프라인 문제은행 프로그램. 사용자가 직접 문제를 제작하고, 연습·시험·게임 모드로 학습함</a:t>
            </a:r>
            <a:endParaRPr lang="ko-KR" sz="900" dirty="0"/>
          </a:p>
        </p:txBody>
      </p:sp>
      <p:sp>
        <p:nvSpPr>
          <p:cNvPr id="7" name="Text 5"/>
          <p:cNvSpPr/>
          <p:nvPr/>
        </p:nvSpPr>
        <p:spPr>
          <a:xfrm>
            <a:off x="507132" y="3116907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장르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507132" y="3439716"/>
            <a:ext cx="4344367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/ 학습 / 콘솔 / RPG 배틀</a:t>
            </a:r>
            <a:endParaRPr lang="ko-KR" sz="900" dirty="0"/>
          </a:p>
        </p:txBody>
      </p:sp>
      <p:sp>
        <p:nvSpPr>
          <p:cNvPr id="9" name="Text 7"/>
          <p:cNvSpPr/>
          <p:nvPr/>
        </p:nvSpPr>
        <p:spPr>
          <a:xfrm>
            <a:off x="4721275" y="2296567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재미 요소</a:t>
            </a:r>
            <a:endParaRPr lang="ko-KR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6987" y="2634183"/>
            <a:ext cx="1931789" cy="11473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6892" y="2766938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몬스터 처치 모드</a:t>
            </a:r>
            <a:endParaRPr lang="ko-KR" sz="1200" dirty="0"/>
          </a:p>
        </p:txBody>
      </p:sp>
      <p:sp>
        <p:nvSpPr>
          <p:cNvPr id="12" name="Text 9"/>
          <p:cNvSpPr/>
          <p:nvPr/>
        </p:nvSpPr>
        <p:spPr>
          <a:xfrm>
            <a:off x="4896892" y="3080221"/>
            <a:ext cx="1609130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시 보스에게 데미지, 3콤보/5콤보 달성 시 데미지 배수 증가</a:t>
            </a:r>
            <a:endParaRPr lang="ko-KR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2956" y="2634183"/>
            <a:ext cx="1931863" cy="1147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32861" y="2766938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무한의 탑 모드</a:t>
            </a:r>
            <a:endParaRPr lang="ko-KR" sz="1200" dirty="0"/>
          </a:p>
        </p:txBody>
      </p:sp>
      <p:sp>
        <p:nvSpPr>
          <p:cNvPr id="15" name="Text 11"/>
          <p:cNvSpPr/>
          <p:nvPr/>
        </p:nvSpPr>
        <p:spPr>
          <a:xfrm>
            <a:off x="6932861" y="3080221"/>
            <a:ext cx="160920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목숨 3개로 층을 오르며, 5콤보마다 목숨 회복, 10층마다 보스전 등장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510680"/>
            <a:ext cx="4401443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초기 프로포절 대비 변경사항</a:t>
            </a:r>
            <a:endParaRPr lang="ko-KR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2196554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초기 프로포절</a:t>
            </a:r>
            <a:endParaRPr 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473943" y="2519363"/>
            <a:ext cx="3953545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모드: 랜덤 문제 출제 및 즉시 피드백 제공</a:t>
            </a:r>
            <a:endParaRPr lang="ko-KR" sz="9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모드: 종료 후 결과 및 오답 기록 제공</a:t>
            </a:r>
            <a:endParaRPr lang="ko-KR" sz="9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모드: 몬스터 전투(정답 시 피해 부여), 무한 생존(생명력 3개) 구현</a:t>
            </a:r>
            <a:endParaRPr lang="ko-KR" sz="9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검색/제작 모드: 키워드 기반 문제 검색 및 사용자 데이터 업데이트</a:t>
            </a:r>
            <a:endParaRPr lang="ko-KR" sz="900" dirty="0"/>
          </a:p>
        </p:txBody>
      </p:sp>
      <p:sp>
        <p:nvSpPr>
          <p:cNvPr id="5" name="Shape 3"/>
          <p:cNvSpPr/>
          <p:nvPr/>
        </p:nvSpPr>
        <p:spPr>
          <a:xfrm>
            <a:off x="4635996" y="2078087"/>
            <a:ext cx="4124102" cy="1554733"/>
          </a:xfrm>
          <a:prstGeom prst="roundRect">
            <a:avLst>
              <a:gd name="adj" fmla="val 18291"/>
            </a:avLst>
          </a:prstGeom>
          <a:solidFill>
            <a:srgbClr val="063E5F"/>
          </a:solidFill>
          <a:ln/>
        </p:spPr>
      </p:sp>
      <p:sp>
        <p:nvSpPr>
          <p:cNvPr id="6" name="Text 4"/>
          <p:cNvSpPr/>
          <p:nvPr/>
        </p:nvSpPr>
        <p:spPr>
          <a:xfrm>
            <a:off x="4754463" y="2196554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변경사항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4754463" y="2519363"/>
            <a:ext cx="3887167" cy="1072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설계 단순화: Monster 상속·GameMode 추상클래스 → 함수 기반으로 변경</a:t>
            </a:r>
            <a:endParaRPr lang="ko-KR" sz="900" dirty="0"/>
          </a:p>
          <a:p>
            <a:pPr algn="l" marL="342900" indent="-34290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생존 모드 → '무한의 탑' 형식으로 구체화 (10층마다 보스층 추가)</a:t>
            </a:r>
            <a:endParaRPr lang="ko-KR" sz="900" dirty="0"/>
          </a:p>
          <a:p>
            <a:pPr algn="l" marL="342900" indent="-34290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파일 기반 문제 데이터 관리 체계 도입</a:t>
            </a:r>
            <a:endParaRPr lang="ko-KR" sz="900" dirty="0"/>
          </a:p>
          <a:p>
            <a:pPr algn="l" marL="342900" indent="-34290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과목 등록 기능 추가 (번호·이름 직접 입력, 자동 파일 생성)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306735"/>
            <a:ext cx="3670622" cy="3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1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프로그램 구조 및 화면 설계</a:t>
            </a:r>
            <a:endParaRPr lang="ko-KR" sz="2100" dirty="0"/>
          </a:p>
        </p:txBody>
      </p:sp>
      <p:sp>
        <p:nvSpPr>
          <p:cNvPr id="3" name="Text 1"/>
          <p:cNvSpPr/>
          <p:nvPr/>
        </p:nvSpPr>
        <p:spPr>
          <a:xfrm>
            <a:off x="407268" y="816620"/>
            <a:ext cx="8329464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메인 메뉴에서 방향키로 모드를 선택하고 Enter로 진입하며, 연습/시험/게임/검색/문제제작 총 5가지 기능을 제공합니다. 키 입력은 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_getch()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기반이며, 화면 전환은 ANSI 이스케이프코드를 사용합니다.</a:t>
            </a:r>
            <a:endParaRPr lang="ko-KR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268" y="1320850"/>
            <a:ext cx="3659014" cy="2932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7268" y="4351734"/>
            <a:ext cx="17969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메인 메뉴 화면</a:t>
            </a:r>
            <a:endParaRPr lang="ko-KR" sz="1050" dirty="0"/>
          </a:p>
        </p:txBody>
      </p:sp>
      <p:sp>
        <p:nvSpPr>
          <p:cNvPr id="6" name="Text 3"/>
          <p:cNvSpPr/>
          <p:nvPr/>
        </p:nvSpPr>
        <p:spPr>
          <a:xfrm>
            <a:off x="407268" y="4606603"/>
            <a:ext cx="4497735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로고와 5가지 기능을 선택하는 메인 진입 화면입니다.</a:t>
            </a:r>
            <a:endParaRPr lang="ko-KR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60" y="1419225"/>
            <a:ext cx="4040535" cy="16585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0960" y="3176141"/>
            <a:ext cx="4443040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700960" y="3414936"/>
            <a:ext cx="17969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연습/시험 모드 화면</a:t>
            </a:r>
            <a:endParaRPr lang="ko-KR" sz="1050" dirty="0"/>
          </a:p>
        </p:txBody>
      </p:sp>
      <p:sp>
        <p:nvSpPr>
          <p:cNvPr id="10" name="Text 6"/>
          <p:cNvSpPr/>
          <p:nvPr/>
        </p:nvSpPr>
        <p:spPr>
          <a:xfrm>
            <a:off x="4700960" y="3669804"/>
            <a:ext cx="4443040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출제와 선택지가 함께 표시되는 학습 화면입니다.</a:t>
            </a:r>
            <a:endParaRPr lang="ko-KR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306735"/>
            <a:ext cx="3137222" cy="3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1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4-2. 게임 모드 화면 설계</a:t>
            </a:r>
            <a:endParaRPr lang="ko-KR" sz="2100" dirty="0"/>
          </a:p>
        </p:txBody>
      </p:sp>
      <p:sp>
        <p:nvSpPr>
          <p:cNvPr id="3" name="Text 1"/>
          <p:cNvSpPr/>
          <p:nvPr/>
        </p:nvSpPr>
        <p:spPr>
          <a:xfrm>
            <a:off x="407268" y="816620"/>
            <a:ext cx="8329464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메인 메뉴에서 방향키로 모드를 선택하고 Enter로 진입하며, 연습/시험/게임/검색/문제제작 총 5가지 기능을 제공합니다. 키 입력은 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_getch()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기반이며, 화면 전환은 ANSI 이스케이프코드를 사용합니다.</a:t>
            </a:r>
            <a:endParaRPr lang="ko-KR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868" y="1320850"/>
            <a:ext cx="2497336" cy="2932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7268" y="4351734"/>
            <a:ext cx="17969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몬스터 처치 모드</a:t>
            </a:r>
            <a:endParaRPr lang="ko-KR" sz="1050" dirty="0"/>
          </a:p>
        </p:txBody>
      </p:sp>
      <p:sp>
        <p:nvSpPr>
          <p:cNvPr id="6" name="Text 3"/>
          <p:cNvSpPr/>
          <p:nvPr/>
        </p:nvSpPr>
        <p:spPr>
          <a:xfrm>
            <a:off x="407268" y="4606603"/>
            <a:ext cx="4497735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정답으로 몬스터에게 피해를 주며 진행하는 전투 화면입니다.</a:t>
            </a:r>
            <a:endParaRPr lang="ko-KR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60" y="1320850"/>
            <a:ext cx="4040535" cy="2482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0960" y="3901455"/>
            <a:ext cx="17969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무한의 탑 모드</a:t>
            </a:r>
            <a:endParaRPr lang="ko-KR" sz="1050" dirty="0"/>
          </a:p>
        </p:txBody>
      </p:sp>
      <p:sp>
        <p:nvSpPr>
          <p:cNvPr id="9" name="Text 5"/>
          <p:cNvSpPr/>
          <p:nvPr/>
        </p:nvSpPr>
        <p:spPr>
          <a:xfrm>
            <a:off x="4700960" y="4156323"/>
            <a:ext cx="4443040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층을 오르며 생존하는 방식의 도전형 게임 화면입니다.</a:t>
            </a:r>
            <a:endParaRPr lang="ko-KR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32470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기술적 구현 현황</a:t>
            </a:r>
            <a:endParaRPr lang="ko-KR" sz="2450" dirty="0"/>
          </a:p>
        </p:txBody>
      </p:sp>
      <p:sp>
        <p:nvSpPr>
          <p:cNvPr id="3" name="Shape 1"/>
          <p:cNvSpPr/>
          <p:nvPr/>
        </p:nvSpPr>
        <p:spPr>
          <a:xfrm>
            <a:off x="388665" y="1399877"/>
            <a:ext cx="3275558" cy="2911153"/>
          </a:xfrm>
          <a:prstGeom prst="roundRect">
            <a:avLst>
              <a:gd name="adj" fmla="val 9768"/>
            </a:avLst>
          </a:prstGeom>
          <a:solidFill>
            <a:srgbClr val="063E5F"/>
          </a:solidFill>
          <a:ln/>
        </p:spPr>
      </p:sp>
      <p:sp>
        <p:nvSpPr>
          <p:cNvPr id="4" name="Text 2"/>
          <p:cNvSpPr/>
          <p:nvPr/>
        </p:nvSpPr>
        <p:spPr>
          <a:xfrm>
            <a:off x="507132" y="1518345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개발 환경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507132" y="1841153"/>
            <a:ext cx="303862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언어: C++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Visual Studio 2022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표준: C++17</a:t>
            </a:r>
            <a:endParaRPr lang="ko-KR" sz="900" dirty="0"/>
          </a:p>
        </p:txBody>
      </p:sp>
      <p:sp>
        <p:nvSpPr>
          <p:cNvPr id="6" name="Text 4"/>
          <p:cNvSpPr/>
          <p:nvPr/>
        </p:nvSpPr>
        <p:spPr>
          <a:xfrm>
            <a:off x="3872731" y="1518345"/>
            <a:ext cx="20161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주요 구조체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3872731" y="1855961"/>
            <a:ext cx="4802014" cy="2321793"/>
          </a:xfrm>
          <a:prstGeom prst="roundRect">
            <a:avLst>
              <a:gd name="adj" fmla="val 7655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3866852" y="1855961"/>
            <a:ext cx="4813771" cy="2321793"/>
          </a:xfrm>
          <a:prstGeom prst="roundRect">
            <a:avLst>
              <a:gd name="adj" fmla="val 765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014936" y="1974428"/>
            <a:ext cx="4517603" cy="2084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Question {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answer;          // 정답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wrongAnswer1;    // 오답 1번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wrongAnswer2;    // 오답 2번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wrongAnswer3;    // 오답 3번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desc;            // 문제 설명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commentary;      // 해설 (정답 선택 후 표시)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 searchKeyword;   // 검색용 키워드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vector wrongChoices;    // 추가 오답 후보 풀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level;              // 난이도</a:t>
            </a:r>
            <a:endParaRPr lang="ko-KR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113383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5-2. 사용자 정의 함수</a:t>
            </a:r>
            <a:endParaRPr lang="ko-KR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740024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927101"/>
            <a:ext cx="2653010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2014910"/>
            <a:ext cx="265301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LoadAllQuestionData()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시작 시 QuestionData 폴더의 모든 CSV를 자동 탐색 및 로드</a:t>
            </a:r>
            <a:endParaRPr lang="ko-KR" sz="900" dirty="0"/>
          </a:p>
        </p:txBody>
      </p:sp>
      <p:sp>
        <p:nvSpPr>
          <p:cNvPr id="6" name="Text 3"/>
          <p:cNvSpPr/>
          <p:nvPr/>
        </p:nvSpPr>
        <p:spPr>
          <a:xfrm>
            <a:off x="3245421" y="1740024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21" y="1927101"/>
            <a:ext cx="2653085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5421" y="2014910"/>
            <a:ext cx="265308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PracticeQuestionSolve()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연습 모드: 문제 출제 및 즉시 피드백 제공</a:t>
            </a:r>
            <a:endParaRPr lang="ko-KR" sz="900" dirty="0"/>
          </a:p>
        </p:txBody>
      </p:sp>
      <p:sp>
        <p:nvSpPr>
          <p:cNvPr id="9" name="Text 5"/>
          <p:cNvSpPr/>
          <p:nvPr/>
        </p:nvSpPr>
        <p:spPr>
          <a:xfrm>
            <a:off x="6016972" y="1740024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972" y="1927101"/>
            <a:ext cx="2653010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6972" y="2014910"/>
            <a:ext cx="265301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ExamQuestionSolve()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시험 모드: 종료 후 결과 및 오답 리스트 제공</a:t>
            </a:r>
            <a:endParaRPr lang="ko-KR" sz="900" dirty="0"/>
          </a:p>
        </p:txBody>
      </p:sp>
      <p:sp>
        <p:nvSpPr>
          <p:cNvPr id="12" name="Text 7"/>
          <p:cNvSpPr/>
          <p:nvPr/>
        </p:nvSpPr>
        <p:spPr>
          <a:xfrm>
            <a:off x="473943" y="2606055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2781300"/>
            <a:ext cx="265301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3943" y="2880940"/>
            <a:ext cx="265301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BossMonsterMode()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보스 HP 100, 제한시간 120초, 콤보 달성 시 데미지 배수 증가</a:t>
            </a:r>
            <a:endParaRPr lang="ko-KR" sz="900" dirty="0"/>
          </a:p>
        </p:txBody>
      </p:sp>
      <p:sp>
        <p:nvSpPr>
          <p:cNvPr id="15" name="Text 9"/>
          <p:cNvSpPr/>
          <p:nvPr/>
        </p:nvSpPr>
        <p:spPr>
          <a:xfrm>
            <a:off x="3245421" y="2606055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421" y="2781300"/>
            <a:ext cx="2653085" cy="142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45421" y="2880940"/>
            <a:ext cx="265308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InfiniteTowerMode()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목숨 3개로 층을 오르며, 10층마다 보스전 등장</a:t>
            </a:r>
            <a:endParaRPr lang="ko-KR" sz="900" dirty="0"/>
          </a:p>
        </p:txBody>
      </p:sp>
      <p:sp>
        <p:nvSpPr>
          <p:cNvPr id="18" name="Text 11"/>
          <p:cNvSpPr/>
          <p:nvPr/>
        </p:nvSpPr>
        <p:spPr>
          <a:xfrm>
            <a:off x="6016972" y="2606055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972" y="2793132"/>
            <a:ext cx="2653010" cy="142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16972" y="2880940"/>
            <a:ext cx="2653010" cy="1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MakeQuestion()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문제 제작 및 CSV 저장</a:t>
            </a:r>
            <a:endParaRPr lang="ko-KR" sz="900" dirty="0"/>
          </a:p>
        </p:txBody>
      </p:sp>
      <p:sp>
        <p:nvSpPr>
          <p:cNvPr id="21" name="Text 13"/>
          <p:cNvSpPr/>
          <p:nvPr/>
        </p:nvSpPr>
        <p:spPr>
          <a:xfrm>
            <a:off x="473943" y="3472086"/>
            <a:ext cx="236934" cy="1480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43" y="3635499"/>
            <a:ext cx="8196039" cy="142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73943" y="3746971"/>
            <a:ext cx="8196039" cy="1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ParseCSVLine()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멀티라인 필드를 지원하는 CSV 파서</a:t>
            </a:r>
            <a:endParaRPr lang="ko-KR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68" y="295796"/>
            <a:ext cx="4892948" cy="3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1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5-3. 객체지향적 요소 및 프로그램 흐름도</a:t>
            </a:r>
            <a:endParaRPr lang="ko-KR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981" y="805681"/>
            <a:ext cx="2732484" cy="608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217" y="921767"/>
            <a:ext cx="13397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캡슐화</a:t>
            </a:r>
            <a:endParaRPr lang="ko-KR" sz="1050" dirty="0"/>
          </a:p>
        </p:txBody>
      </p:sp>
      <p:sp>
        <p:nvSpPr>
          <p:cNvPr id="5" name="Text 2"/>
          <p:cNvSpPr/>
          <p:nvPr/>
        </p:nvSpPr>
        <p:spPr>
          <a:xfrm>
            <a:off x="566217" y="1141661"/>
            <a:ext cx="2443163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Question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통한 문제 데이터 캡슐화</a:t>
            </a:r>
            <a:endParaRPr lang="ko-KR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8614" y="805681"/>
            <a:ext cx="2732484" cy="6081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71850" y="921767"/>
            <a:ext cx="13397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 분리</a:t>
            </a:r>
            <a:endParaRPr lang="ko-KR" sz="1050" dirty="0"/>
          </a:p>
        </p:txBody>
      </p:sp>
      <p:sp>
        <p:nvSpPr>
          <p:cNvPr id="8" name="Text 4"/>
          <p:cNvSpPr/>
          <p:nvPr/>
        </p:nvSpPr>
        <p:spPr>
          <a:xfrm>
            <a:off x="3371850" y="1141661"/>
            <a:ext cx="2443163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.h/.cpp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파일 분리 구현</a:t>
            </a:r>
            <a:endParaRPr lang="ko-KR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4247" y="805681"/>
            <a:ext cx="2732484" cy="6081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7483" y="921767"/>
            <a:ext cx="1339751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함수 파라미터 활용</a:t>
            </a:r>
            <a:endParaRPr lang="ko-KR" sz="1050" dirty="0"/>
          </a:p>
        </p:txBody>
      </p:sp>
      <p:sp>
        <p:nvSpPr>
          <p:cNvPr id="11" name="Text 6"/>
          <p:cNvSpPr/>
          <p:nvPr/>
        </p:nvSpPr>
        <p:spPr>
          <a:xfrm>
            <a:off x="6177483" y="1141661"/>
            <a:ext cx="2443163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SelectSubjectMenu()</a:t>
            </a:r>
            <a:pPr algn="l" indent="0" marL="0">
              <a:lnSpc>
                <a:spcPct val="124000"/>
              </a:lnSpc>
              <a:buNone/>
            </a:pPr>
            <a:r>
              <a:rPr lang="ko-KR" altLang="en-US" sz="8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기본값 파라미터 활용</a:t>
            </a:r>
            <a:endParaRPr lang="ko-KR" sz="800" dirty="0"/>
          </a:p>
        </p:txBody>
      </p:sp>
      <p:sp>
        <p:nvSpPr>
          <p:cNvPr id="12" name="Text 7"/>
          <p:cNvSpPr/>
          <p:nvPr/>
        </p:nvSpPr>
        <p:spPr>
          <a:xfrm>
            <a:off x="407268" y="1545059"/>
            <a:ext cx="2600846" cy="267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프로그램 흐름도</a:t>
            </a:r>
            <a:endParaRPr lang="ko-KR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5935" y="1944216"/>
            <a:ext cx="4892129" cy="2903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0929" y="4167977"/>
            <a:ext cx="1216069" cy="24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연습 모드</a:t>
            </a:r>
            <a:endParaRPr lang="ko-KR" sz="1550" dirty="0"/>
          </a:p>
        </p:txBody>
      </p:sp>
      <p:sp>
        <p:nvSpPr>
          <p:cNvPr id="15" name="Text 9"/>
          <p:cNvSpPr/>
          <p:nvPr/>
        </p:nvSpPr>
        <p:spPr>
          <a:xfrm>
            <a:off x="3998348" y="4167977"/>
            <a:ext cx="1216069" cy="24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메인 메뉴</a:t>
            </a:r>
            <a:endParaRPr lang="ko-KR" sz="1550" dirty="0"/>
          </a:p>
        </p:txBody>
      </p:sp>
      <p:sp>
        <p:nvSpPr>
          <p:cNvPr id="16" name="Text 10"/>
          <p:cNvSpPr/>
          <p:nvPr/>
        </p:nvSpPr>
        <p:spPr>
          <a:xfrm>
            <a:off x="2440781" y="4167977"/>
            <a:ext cx="1216069" cy="24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55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게임 시작</a:t>
            </a:r>
            <a:endParaRPr lang="ko-KR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6296" y="585415"/>
            <a:ext cx="2648396" cy="3972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599703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그래픽 및 리소스 구성</a:t>
            </a:r>
            <a:endParaRPr lang="ko-KR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167110"/>
            <a:ext cx="296168" cy="296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3943" y="1611362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구성</a:t>
            </a:r>
            <a:endParaRPr lang="ko-KR" sz="1200" dirty="0"/>
          </a:p>
        </p:txBody>
      </p:sp>
      <p:sp>
        <p:nvSpPr>
          <p:cNvPr id="7" name="Text 3"/>
          <p:cNvSpPr/>
          <p:nvPr/>
        </p:nvSpPr>
        <p:spPr>
          <a:xfrm>
            <a:off x="473943" y="1877244"/>
            <a:ext cx="4767114" cy="1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기반 콘솔 UI, ASCII 아트 로고(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ProjectLogo.txt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외부 파일로 관리)</a:t>
            </a:r>
            <a:endParaRPr lang="ko-KR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2308473"/>
            <a:ext cx="296168" cy="296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3943" y="2752725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정렬</a:t>
            </a:r>
            <a:endParaRPr lang="ko-KR" sz="1200" dirty="0"/>
          </a:p>
        </p:txBody>
      </p:sp>
      <p:sp>
        <p:nvSpPr>
          <p:cNvPr id="10" name="Text 5"/>
          <p:cNvSpPr/>
          <p:nvPr/>
        </p:nvSpPr>
        <p:spPr>
          <a:xfrm>
            <a:off x="473943" y="3018606"/>
            <a:ext cx="4767114" cy="1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한글 2바이트를 고려한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GetVisualLength()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함수로 시각적 너비 계산 및 중앙 정렬 적용</a:t>
            </a:r>
            <a:endParaRPr lang="ko-KR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3449836"/>
            <a:ext cx="296168" cy="296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3943" y="3894088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전환</a:t>
            </a:r>
            <a:endParaRPr lang="ko-KR" sz="1200" dirty="0"/>
          </a:p>
        </p:txBody>
      </p:sp>
      <p:sp>
        <p:nvSpPr>
          <p:cNvPr id="13" name="Text 7"/>
          <p:cNvSpPr/>
          <p:nvPr/>
        </p:nvSpPr>
        <p:spPr>
          <a:xfrm>
            <a:off x="473943" y="4159969"/>
            <a:ext cx="47671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screenClear()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함수 내 ANSI 이스케이프 코드(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\033[2J\033[H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)를 사용하여 화면을 지우고 커서를 초기화</a:t>
            </a:r>
            <a:endParaRPr lang="ko-KR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312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현재까지의 결과물</a:t>
            </a:r>
            <a:endParaRPr lang="ko-KR" sz="2450" dirty="0"/>
          </a:p>
        </p:txBody>
      </p:sp>
      <p:sp>
        <p:nvSpPr>
          <p:cNvPr id="3" name="Shape 1"/>
          <p:cNvSpPr/>
          <p:nvPr/>
        </p:nvSpPr>
        <p:spPr>
          <a:xfrm>
            <a:off x="473943" y="1002953"/>
            <a:ext cx="4038823" cy="1175742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73" y="1126182"/>
            <a:ext cx="355402" cy="3554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79" y="1223888"/>
            <a:ext cx="159916" cy="1599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173" y="1600051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메인 메뉴 UI</a:t>
            </a:r>
            <a:endParaRPr lang="ko-KR" sz="1200" dirty="0"/>
          </a:p>
        </p:txBody>
      </p:sp>
      <p:sp>
        <p:nvSpPr>
          <p:cNvPr id="7" name="Text 3"/>
          <p:cNvSpPr/>
          <p:nvPr/>
        </p:nvSpPr>
        <p:spPr>
          <a:xfrm>
            <a:off x="597173" y="1865933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로고 + 5가지 기능 선택 구현 완료</a:t>
            </a:r>
            <a:endParaRPr lang="ko-KR" sz="900" dirty="0"/>
          </a:p>
        </p:txBody>
      </p:sp>
      <p:sp>
        <p:nvSpPr>
          <p:cNvPr id="8" name="Shape 4"/>
          <p:cNvSpPr/>
          <p:nvPr/>
        </p:nvSpPr>
        <p:spPr>
          <a:xfrm>
            <a:off x="4631234" y="1002953"/>
            <a:ext cx="4038823" cy="1175742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463" y="1126182"/>
            <a:ext cx="355402" cy="35540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2169" y="1223888"/>
            <a:ext cx="159916" cy="1599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463" y="1600051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연습/시험 모드</a:t>
            </a:r>
            <a:endParaRPr lang="ko-KR" sz="1200" dirty="0"/>
          </a:p>
        </p:txBody>
      </p:sp>
      <p:sp>
        <p:nvSpPr>
          <p:cNvPr id="12" name="Text 6"/>
          <p:cNvSpPr/>
          <p:nvPr/>
        </p:nvSpPr>
        <p:spPr>
          <a:xfrm>
            <a:off x="4754463" y="1865933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후 오답 복습 기능 포함 구현 완료</a:t>
            </a:r>
            <a:endParaRPr lang="ko-KR" sz="900" dirty="0"/>
          </a:p>
        </p:txBody>
      </p:sp>
      <p:sp>
        <p:nvSpPr>
          <p:cNvPr id="13" name="Shape 7"/>
          <p:cNvSpPr/>
          <p:nvPr/>
        </p:nvSpPr>
        <p:spPr>
          <a:xfrm>
            <a:off x="473943" y="2297162"/>
            <a:ext cx="4038823" cy="1175742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73" y="2420392"/>
            <a:ext cx="355402" cy="35540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879" y="2518097"/>
            <a:ext cx="159916" cy="15991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97173" y="2894261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몬스터 처치 모드</a:t>
            </a:r>
            <a:endParaRPr lang="ko-KR" sz="1200" dirty="0"/>
          </a:p>
        </p:txBody>
      </p:sp>
      <p:sp>
        <p:nvSpPr>
          <p:cNvPr id="17" name="Text 9"/>
          <p:cNvSpPr/>
          <p:nvPr/>
        </p:nvSpPr>
        <p:spPr>
          <a:xfrm>
            <a:off x="597173" y="3160142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HP 100, 120초 제한, 콤보 시스템 구현 완료</a:t>
            </a:r>
            <a:endParaRPr lang="ko-KR" sz="900" dirty="0"/>
          </a:p>
        </p:txBody>
      </p:sp>
      <p:sp>
        <p:nvSpPr>
          <p:cNvPr id="18" name="Shape 10"/>
          <p:cNvSpPr/>
          <p:nvPr/>
        </p:nvSpPr>
        <p:spPr>
          <a:xfrm>
            <a:off x="4631234" y="2297162"/>
            <a:ext cx="4038823" cy="1175742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463" y="2420392"/>
            <a:ext cx="355402" cy="35540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2169" y="2518097"/>
            <a:ext cx="159916" cy="15991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54463" y="2894261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무한의 탑 모드</a:t>
            </a:r>
            <a:endParaRPr lang="ko-KR" sz="1200" dirty="0"/>
          </a:p>
        </p:txBody>
      </p:sp>
      <p:sp>
        <p:nvSpPr>
          <p:cNvPr id="22" name="Text 12"/>
          <p:cNvSpPr/>
          <p:nvPr/>
        </p:nvSpPr>
        <p:spPr>
          <a:xfrm>
            <a:off x="4754463" y="3160142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목숨 3개, 10층 보스전 구현 완료</a:t>
            </a:r>
            <a:endParaRPr lang="ko-KR" sz="900" dirty="0"/>
          </a:p>
        </p:txBody>
      </p:sp>
      <p:sp>
        <p:nvSpPr>
          <p:cNvPr id="23" name="Shape 13"/>
          <p:cNvSpPr/>
          <p:nvPr/>
        </p:nvSpPr>
        <p:spPr>
          <a:xfrm>
            <a:off x="473943" y="3591371"/>
            <a:ext cx="4038823" cy="1175742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173" y="3714601"/>
            <a:ext cx="355402" cy="355402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4879" y="3812307"/>
            <a:ext cx="159916" cy="15991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97173" y="418847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문제 검색 기능</a:t>
            </a:r>
            <a:endParaRPr lang="ko-KR" sz="1200" dirty="0"/>
          </a:p>
        </p:txBody>
      </p:sp>
      <p:sp>
        <p:nvSpPr>
          <p:cNvPr id="27" name="Text 15"/>
          <p:cNvSpPr/>
          <p:nvPr/>
        </p:nvSpPr>
        <p:spPr>
          <a:xfrm>
            <a:off x="597173" y="4454351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검색, 번호/레벨 정렬 구현 완료</a:t>
            </a:r>
            <a:endParaRPr lang="ko-KR" sz="900" dirty="0"/>
          </a:p>
        </p:txBody>
      </p:sp>
      <p:sp>
        <p:nvSpPr>
          <p:cNvPr id="28" name="Shape 16"/>
          <p:cNvSpPr/>
          <p:nvPr/>
        </p:nvSpPr>
        <p:spPr>
          <a:xfrm>
            <a:off x="4631234" y="3591371"/>
            <a:ext cx="4038823" cy="1175742"/>
          </a:xfrm>
          <a:prstGeom prst="roundRect">
            <a:avLst>
              <a:gd name="adj" fmla="val 1511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463" y="3714601"/>
            <a:ext cx="355402" cy="355402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52169" y="3812307"/>
            <a:ext cx="159916" cy="159916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754463" y="418847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문제 제작 및 과목 등록</a:t>
            </a:r>
            <a:endParaRPr lang="ko-KR" sz="1200" dirty="0"/>
          </a:p>
        </p:txBody>
      </p:sp>
      <p:sp>
        <p:nvSpPr>
          <p:cNvPr id="32" name="Text 18"/>
          <p:cNvSpPr/>
          <p:nvPr/>
        </p:nvSpPr>
        <p:spPr>
          <a:xfrm>
            <a:off x="4754463" y="4454351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저장, 새 과목 등록 기능 구현 완료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34" y="585415"/>
            <a:ext cx="2648396" cy="3972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943" y="789608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프로젝트 중 문제점</a:t>
            </a:r>
            <a:endParaRPr lang="ko-KR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8656" y="1357015"/>
            <a:ext cx="4781401" cy="919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78560" y="1489770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GitHub 브랜치 운영</a:t>
            </a:r>
            <a:endParaRPr lang="ko-KR" sz="1200" dirty="0"/>
          </a:p>
        </p:txBody>
      </p:sp>
      <p:sp>
        <p:nvSpPr>
          <p:cNvPr id="7" name="Text 3"/>
          <p:cNvSpPr/>
          <p:nvPr/>
        </p:nvSpPr>
        <p:spPr>
          <a:xfrm>
            <a:off x="4078560" y="1765176"/>
            <a:ext cx="4458742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사용에 익숙치 않아 branch 사용 시 일부 어려움 발생. 팀원 간 코드 병합 과정에서 충돌 해결에 시간이 소요됨</a:t>
            </a:r>
            <a:endParaRPr lang="ko-KR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8656" y="2395463"/>
            <a:ext cx="4781401" cy="9199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78560" y="2528218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인코딩 호환성 문제</a:t>
            </a:r>
            <a:endParaRPr lang="ko-KR" sz="1200" dirty="0"/>
          </a:p>
        </p:txBody>
      </p:sp>
      <p:sp>
        <p:nvSpPr>
          <p:cNvPr id="10" name="Text 5"/>
          <p:cNvSpPr/>
          <p:nvPr/>
        </p:nvSpPr>
        <p:spPr>
          <a:xfrm>
            <a:off x="4078560" y="2803624"/>
            <a:ext cx="4458742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VS, GitHub Desktop, 콘솔의 인코딩 방식이 서로 달라 세 곳 동시에 한글을 보기가 어려움 → 이를 감안하여 VS와 콘솔에서만 한글을 사용하기로 정함</a:t>
            </a:r>
            <a:endParaRPr lang="ko-KR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8656" y="3433911"/>
            <a:ext cx="4781401" cy="9199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78560" y="3566666"/>
            <a:ext cx="155897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CSV 파싱 복잡성</a:t>
            </a:r>
            <a:endParaRPr lang="ko-KR" sz="1200" dirty="0"/>
          </a:p>
        </p:txBody>
      </p:sp>
      <p:sp>
        <p:nvSpPr>
          <p:cNvPr id="13" name="Text 7"/>
          <p:cNvSpPr/>
          <p:nvPr/>
        </p:nvSpPr>
        <p:spPr>
          <a:xfrm>
            <a:off x="4078560" y="3842072"/>
            <a:ext cx="4458742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파싱을 처음 시도하여 어려웠고, 설명란을 보기 좋게 출력하기 위하여 멀티라인 파싱을 구현해야 하여 복잡하였음</a:t>
            </a:r>
            <a:endParaRPr lang="ko-KR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286991"/>
            <a:ext cx="357522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참고 자료</a:t>
            </a:r>
            <a:endParaRPr lang="ko-KR" sz="2450" dirty="0"/>
          </a:p>
        </p:txBody>
      </p:sp>
      <p:sp>
        <p:nvSpPr>
          <p:cNvPr id="3" name="Shape 1"/>
          <p:cNvSpPr/>
          <p:nvPr/>
        </p:nvSpPr>
        <p:spPr>
          <a:xfrm>
            <a:off x="473943" y="1913632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8962" y="1954337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도타비 문제은행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858962" y="2220218"/>
            <a:ext cx="363899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국가기술자격 기출문제, CBT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u="sng" dirty="0">
                <a:solidFill>
                  <a:srgbClr val="359DD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도타비 문제은행 :: 국가기술자격 기출문제, CBT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4646042" y="1913632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31060" y="1954337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한컴 타자연습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5031060" y="2220218"/>
            <a:ext cx="363899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게임 | 한컴타자 – 한글과컴퓨터의 타자 연습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u="sng" dirty="0">
                <a:solidFill>
                  <a:srgbClr val="359DD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게임 | 한컴타자 – 한글과컴퓨터의 타자 연습</a:t>
            </a:r>
            <a:endParaRPr lang="ko-KR" sz="900" dirty="0"/>
          </a:p>
        </p:txBody>
      </p:sp>
      <p:sp>
        <p:nvSpPr>
          <p:cNvPr id="9" name="Shape 7"/>
          <p:cNvSpPr/>
          <p:nvPr/>
        </p:nvSpPr>
        <p:spPr>
          <a:xfrm>
            <a:off x="473943" y="2836218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962" y="2876922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무한의 계단</a:t>
            </a:r>
            <a:endParaRPr lang="ko-KR" sz="1200" dirty="0"/>
          </a:p>
        </p:txBody>
      </p:sp>
      <p:sp>
        <p:nvSpPr>
          <p:cNvPr id="11" name="Text 9"/>
          <p:cNvSpPr/>
          <p:nvPr/>
        </p:nvSpPr>
        <p:spPr>
          <a:xfrm>
            <a:off x="858962" y="3142804"/>
            <a:ext cx="3638996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Google Play 앱 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900" u="sng" dirty="0">
                <a:solidFill>
                  <a:srgbClr val="359DD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무한의 계단 - Google Play 앱</a:t>
            </a:r>
            <a:endParaRPr lang="ko-KR" sz="900" dirty="0"/>
          </a:p>
        </p:txBody>
      </p:sp>
      <p:sp>
        <p:nvSpPr>
          <p:cNvPr id="12" name="Shape 10"/>
          <p:cNvSpPr/>
          <p:nvPr/>
        </p:nvSpPr>
        <p:spPr>
          <a:xfrm>
            <a:off x="4646042" y="2836218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1060" y="2876922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8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학과 수업 자료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5031060" y="3142804"/>
            <a:ext cx="3638996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 수업 내 공유받은 수업 자료</a:t>
            </a:r>
            <a:endParaRPr lang="ko-KR" sz="900" dirty="0"/>
          </a:p>
        </p:txBody>
      </p:sp>
      <p:sp>
        <p:nvSpPr>
          <p:cNvPr id="15" name="Shape 13"/>
          <p:cNvSpPr/>
          <p:nvPr/>
        </p:nvSpPr>
        <p:spPr>
          <a:xfrm>
            <a:off x="473943" y="3495229"/>
            <a:ext cx="8196114" cy="8855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3943" y="3666976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38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IceTea — 객체지향프로그래밍 팀프로젝트 최종보고서</a:t>
            </a:r>
            <a:endParaRPr lang="ko-K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00000"/>
            <a:ext cx="4800000" cy="80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5400" b="1" dirty="0">
                <a:solidFill>
                  <a:srgbClr val="2E3C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감사합니다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2580000"/>
            <a:ext cx="4600000" cy="2800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75B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IceTea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2026-06-03T16:20:01Z</dcterms:created>
  <dcterms:modified xsi:type="dcterms:W3CDTF">2026-06-03T16:20:01Z</dcterms:modified>
</cp:coreProperties>
</file>